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46E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0" y="0"/>
            <a:ext cx="3840480" cy="5143500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1005840"/>
            <a:ext cx="64008" cy="2377440"/>
          </a:xfrm>
          <a:prstGeom prst="rect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4572000" cy="105156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Meiryo"/>
              </a:rPr>
              <a:t>設計工程表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4572000" cy="82296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CFD8DC"/>
                </a:solidFill>
                <a:latin typeface="Meiryo"/>
              </a:rPr>
              <a:t>使い方説明書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34640"/>
            <a:ext cx="2926080" cy="36576"/>
          </a:xfrm>
          <a:prstGeom prst="rect">
            <a:avLst/>
          </a:prstGeom>
          <a:solidFill>
            <a:srgbClr val="80CB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944368"/>
            <a:ext cx="4572000" cy="45720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B2DFDB"/>
                </a:solidFill>
                <a:latin typeface="Meiryo"/>
              </a:rPr>
              <a:t>設計部 業務ツール マニュアル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3383280" cy="91440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Meiryo"/>
              </a:rPr>
              <a:t>設計部</a:t>
            </a:r>
          </a:p>
          <a:p>
            <a:pPr algn="ctr"/>
            <a:r>
              <a:rPr sz="1400" b="0" i="0">
                <a:solidFill>
                  <a:srgbClr val="CFD8DC"/>
                </a:solidFill>
                <a:latin typeface="Meiryo"/>
              </a:rPr>
              <a:t>業務ツール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4736592"/>
            <a:ext cx="2011680" cy="256032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90A4AE"/>
                </a:solidFill>
                <a:latin typeface="Meiryo"/>
              </a:rPr>
              <a:t>設計部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画面の構成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2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41605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416052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上部ツールバー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3941063" cy="3657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フィルターボタン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担当別 / 計画 / 図面 / 長納期品 / 出張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表示単位切替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日単位 / 週単位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工事番号フィルター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プルダウンで複数選択可能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担当者フィルター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リソース表示時に表示される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リソース表示ボタン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担当者別の業務状況を表示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43A047"/>
                </a:solidFill>
                <a:latin typeface="Meiryo"/>
              </a:rPr>
              <a:t>＋ 新規タスク追加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新しいタスクを末尾に追加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アーカイブ ▼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完了工事の保管・参照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749808"/>
            <a:ext cx="416052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749808"/>
            <a:ext cx="4160520" cy="29260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460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メイン画面（ガントチャート）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1097280"/>
            <a:ext cx="3941063" cy="3657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左側：タスク一覧グリッド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工事番号・機械・タスク名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担当者・進捗 など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右側：タイムライン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バーをドラッグで日程変更可能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E53935"/>
                </a:solidFill>
                <a:latin typeface="Meiryo"/>
              </a:rPr>
              <a:t>赤い縦線（今日マーカー）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本日の位置を示します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土日・祝日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グレー背景で識別できます</a:t>
            </a:r>
          </a:p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▼マーク（出図希望日）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図面タスクバー上に表示</a:t>
            </a:r>
            <a:br>
              <a:rPr lang="ja-JP" sz="1050"/>
            </a:br>
            <a:r>
              <a:rPr sz="1050" b="0" i="0">
                <a:solidFill>
                  <a:srgbClr val="546E7A"/>
                </a:solidFill>
                <a:latin typeface="Meiryo"/>
              </a:rPr>
              <a:t>　ドラッグで日程変更可能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表示モード（タスクタイプ）の切り替え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3 /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731520"/>
            <a:ext cx="8595360" cy="27432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546E7A"/>
                </a:solidFill>
                <a:latin typeface="Meiryo"/>
              </a:rPr>
              <a:t>ボタンをクリックしてタスクタイプを切り替えます。同時に1種類のみ表示されます。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8595360" cy="33832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051560"/>
            <a:ext cx="1234440" cy="33832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"/>
              </a:rPr>
              <a:t>ボタン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" y="1051560"/>
            <a:ext cx="2926080" cy="33832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"/>
              </a:rPr>
              <a:t>内容・目的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1051560"/>
            <a:ext cx="4709160" cy="33832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"/>
              </a:rPr>
              <a:t>主な列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389888"/>
            <a:ext cx="85953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389888"/>
            <a:ext cx="1234440" cy="65836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1389888"/>
            <a:ext cx="1234440" cy="65836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"/>
              </a:rPr>
              <a:t>図面</a:t>
            </a:r>
            <a:br>
              <a:rPr lang="ja-JP" sz="1050"/>
            </a:br>
            <a:r>
              <a:rPr sz="1050" b="1" i="0">
                <a:solidFill>
                  <a:srgbClr val="FFFFFF"/>
                </a:solidFill>
                <a:latin typeface="Meiryo"/>
              </a:rPr>
              <a:t>（デフォルト）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1426464"/>
            <a:ext cx="288036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63238"/>
                </a:solidFill>
                <a:latin typeface="Meiryo"/>
              </a:rPr>
              <a:t>組立図面の設計進捗管理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1426464"/>
            <a:ext cx="466344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63238"/>
                </a:solidFill>
                <a:latin typeface="Meiryo"/>
              </a:rPr>
              <a:t>工事番号・機械・ユニット・組立図面名</a:t>
            </a:r>
            <a:br>
              <a:rPr lang="ja-JP" sz="1000"/>
            </a:br>
            <a:r>
              <a:rPr sz="1000" b="0" i="0">
                <a:solidFill>
                  <a:srgbClr val="263238"/>
                </a:solidFill>
                <a:latin typeface="Meiryo"/>
              </a:rPr>
              <a:t>機種・総枚数・完了枚数・進捗・完了予定日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90472" y="1389888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16552" y="1389888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048256"/>
            <a:ext cx="8595360" cy="658368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2048256"/>
            <a:ext cx="1234440" cy="6583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2048256"/>
            <a:ext cx="1234440" cy="65836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"/>
              </a:rPr>
              <a:t>計画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2084832"/>
            <a:ext cx="288036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63238"/>
                </a:solidFill>
                <a:latin typeface="Meiryo"/>
              </a:rPr>
              <a:t>工事計画・スケジュール管理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2272" y="2084832"/>
            <a:ext cx="466344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63238"/>
                </a:solidFill>
                <a:latin typeface="Meiryo"/>
              </a:rPr>
              <a:t>工事番号・客先・工事名・タスク</a:t>
            </a:r>
            <a:br>
              <a:rPr lang="ja-JP" sz="1000"/>
            </a:br>
            <a:r>
              <a:rPr sz="1000" b="0" i="0">
                <a:solidFill>
                  <a:srgbClr val="263238"/>
                </a:solidFill>
                <a:latin typeface="Meiryo"/>
              </a:rPr>
              <a:t>担当・開始日・終了日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90472" y="2048256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16552" y="2048256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" y="2706624"/>
            <a:ext cx="85953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2706624"/>
            <a:ext cx="1234440" cy="65836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2706624"/>
            <a:ext cx="1234440" cy="65836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"/>
              </a:rPr>
              <a:t>長納期品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2743200"/>
            <a:ext cx="288036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63238"/>
                </a:solidFill>
                <a:latin typeface="Meiryo"/>
              </a:rPr>
              <a:t>発注が必要な長納期部品の管理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2743200"/>
            <a:ext cx="466344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63238"/>
                </a:solidFill>
                <a:latin typeface="Meiryo"/>
              </a:rPr>
              <a:t>工事番号・品名・型式図番・個数</a:t>
            </a:r>
            <a:br>
              <a:rPr lang="ja-JP" sz="1000"/>
            </a:br>
            <a:r>
              <a:rPr sz="1000" b="0" i="0">
                <a:solidFill>
                  <a:srgbClr val="263238"/>
                </a:solidFill>
                <a:latin typeface="Meiryo"/>
              </a:rPr>
              <a:t>メーカー・担当・手配予定日・状態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90472" y="2706624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16552" y="2706624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4320" y="3364992"/>
            <a:ext cx="8595360" cy="658368"/>
          </a:xfrm>
          <a:prstGeom prst="rect">
            <a:avLst/>
          </a:prstGeom>
          <a:solidFill>
            <a:srgbClr val="ECEFF1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3364992"/>
            <a:ext cx="1234440" cy="658368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3364992"/>
            <a:ext cx="1234440" cy="65836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"/>
              </a:rPr>
              <a:t>出張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36192" y="3401568"/>
            <a:ext cx="288036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63238"/>
                </a:solidFill>
                <a:latin typeface="Meiryo"/>
              </a:rPr>
              <a:t>出張スケジュールの管理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62272" y="3401568"/>
            <a:ext cx="466344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63238"/>
                </a:solidFill>
                <a:latin typeface="Meiryo"/>
              </a:rPr>
              <a:t>工事番号・機械・タスク</a:t>
            </a:r>
            <a:br>
              <a:rPr lang="ja-JP" sz="1000"/>
            </a:br>
            <a:r>
              <a:rPr sz="1000" b="0" i="0">
                <a:solidFill>
                  <a:srgbClr val="263238"/>
                </a:solidFill>
                <a:latin typeface="Meiryo"/>
              </a:rPr>
              <a:t>担当・開始日・終了日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490472" y="3364992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16552" y="3364992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4320" y="4023360"/>
            <a:ext cx="8595360" cy="658368"/>
          </a:xfrm>
          <a:prstGeom prst="rect">
            <a:avLst/>
          </a:prstGeom>
          <a:solidFill>
            <a:srgbClr val="FFFFFF"/>
          </a:solidFill>
          <a:ln w="6350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74320" y="4023360"/>
            <a:ext cx="1234440" cy="65836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" y="4023360"/>
            <a:ext cx="1234440" cy="65836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eiryo"/>
              </a:rPr>
              <a:t>担当別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36192" y="4059936"/>
            <a:ext cx="288036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0" i="0">
                <a:solidFill>
                  <a:srgbClr val="263238"/>
                </a:solidFill>
                <a:latin typeface="Meiryo"/>
              </a:rPr>
              <a:t>担当者別のリソース状況を全画面表示</a:t>
            </a:r>
            <a:br>
              <a:rPr lang="ja-JP" sz="1050"/>
            </a:br>
            <a:r>
              <a:rPr sz="1050" b="0" i="0">
                <a:solidFill>
                  <a:srgbClr val="263238"/>
                </a:solidFill>
                <a:latin typeface="Meiryo"/>
              </a:rPr>
              <a:t>（詳細はスライド7参照）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62272" y="4059936"/>
            <a:ext cx="4663440" cy="58521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00" b="0" i="0">
                <a:solidFill>
                  <a:srgbClr val="263238"/>
                </a:solidFill>
                <a:latin typeface="Meiryo"/>
              </a:rPr>
              <a:t>各担当者のタスクをタイムラインで一覧表示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490472" y="4023360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16552" y="4023360"/>
            <a:ext cx="18288" cy="658368"/>
          </a:xfrm>
          <a:prstGeom prst="rect">
            <a:avLst/>
          </a:prstGeom>
          <a:solidFill>
            <a:srgbClr val="CFD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タスクの追加・編集・削除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4160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4160520" cy="292608"/>
          </a:xfrm>
          <a:prstGeom prst="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タスクの追加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3941063" cy="64008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43A047"/>
                </a:solidFill>
                <a:latin typeface="Meiryo"/>
              </a:rPr>
              <a:t>① 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右上「＋ 新規タスク追加」ボタンをクリック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43A047"/>
                </a:solidFill>
                <a:latin typeface="Meiryo"/>
              </a:rPr>
              <a:t>② 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グリッド右端の「＋」ボタンをクリック（どちらでも可）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43A047"/>
                </a:solidFill>
                <a:latin typeface="Meiryo"/>
              </a:rPr>
              <a:t>③ 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タスク名が自動で編集状態 → 入力してEnterで確定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847088"/>
            <a:ext cx="4160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847088"/>
            <a:ext cx="416052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184708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タスクの編集（インライン編集）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194560"/>
            <a:ext cx="3941063" cy="64008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各列のセルをクリックすると直接編集できます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担当者列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：プルダウンで選択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完了予定日列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：日付ピッカーで選択（Enter / セル外クリックで確定）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944368"/>
            <a:ext cx="4160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944368"/>
            <a:ext cx="416052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94436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タスクの編集（詳細ダイアログ）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3291840"/>
            <a:ext cx="3941063" cy="64008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タイムライン上のバーをダブルクリック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 → 詳細ダイアログが開きます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工事番号・機械・ユニット・担当・出図希望日などをまとめて編集できます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749808"/>
            <a:ext cx="416052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749808"/>
            <a:ext cx="4160520" cy="292608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タスクの削除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1097280"/>
            <a:ext cx="3941063" cy="64008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タスク行をクリックして選択（青くハイライト）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「選択削除（N件）」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ボタンをクリックして削除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Ctrl + クリック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で複数行選択 → まとめて削除可能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847088"/>
            <a:ext cx="416052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0" y="1847088"/>
            <a:ext cx="4160520" cy="292608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8" y="184708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右クリックメニュー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2194560"/>
            <a:ext cx="3941063" cy="1737359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タスク行を右クリック → メニューが表示されます</a:t>
            </a:r>
            <a:br>
              <a:rPr lang="ja-JP" sz="1050"/>
            </a:b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565C0"/>
                </a:solidFill>
                <a:latin typeface="Meiryo"/>
              </a:rPr>
              <a:t>コピー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　：選択行を1件コピー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565C0"/>
                </a:solidFill>
                <a:latin typeface="Meiryo"/>
              </a:rPr>
              <a:t>複数コピー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　：選択複数行をまとめてコピー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E7D32"/>
                </a:solidFill>
                <a:latin typeface="Meiryo"/>
              </a:rPr>
              <a:t>貼り付け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　：コピーしたタスクを貼り付け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C62828"/>
                </a:solidFill>
                <a:latin typeface="Meiryo"/>
              </a:rPr>
              <a:t>削除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　　：選択行を削除</a:t>
            </a:r>
          </a:p>
          <a:p>
            <a:pPr algn="l">
              <a:spcAft>
                <a:spcPts val="100"/>
              </a:spcAft>
            </a:pPr>
            <a:br>
              <a:rPr lang="ja-JP" sz="1000"/>
            </a:br>
            <a:r>
              <a:rPr sz="1000" b="0" i="1">
                <a:solidFill>
                  <a:srgbClr val="90A4AE"/>
                </a:solidFill>
                <a:latin typeface="Meiryo"/>
              </a:rPr>
              <a:t>※ コピー時は「コピーする項目選択」ダイアログが表示されます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ガントバーの操作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416052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416052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バーのドラッグ移動（位置変更）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3941063" cy="1444751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タイムライン上のバーを</a:t>
            </a:r>
            <a:r>
              <a:rPr sz="1100" b="1" i="0">
                <a:solidFill>
                  <a:srgbClr val="263238"/>
                </a:solidFill>
                <a:latin typeface="Meiryo"/>
              </a:rPr>
              <a:t>左右にドラッグ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すると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開始日・完了日をまとめて変更できます</a:t>
            </a:r>
          </a:p>
          <a:p>
            <a:pPr algn="l">
              <a:spcAft>
                <a:spcPts val="300"/>
              </a:spcAft>
            </a:pPr>
            <a:br>
              <a:rPr lang="ja-JP" sz="1000"/>
            </a:br>
            <a:r>
              <a:rPr sz="1000" b="0" i="1">
                <a:solidFill>
                  <a:srgbClr val="90A4AE"/>
                </a:solidFill>
                <a:latin typeface="Meiryo"/>
              </a:rPr>
              <a:t>ドラッグ後、自動的にDB（Supabase）に保存されます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749808"/>
            <a:ext cx="416052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749808"/>
            <a:ext cx="416052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460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バーのリサイズ（右端ドラッグ）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4608" y="1097280"/>
            <a:ext cx="3941063" cy="1444751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バーの</a:t>
            </a:r>
            <a:r>
              <a:rPr sz="1100" b="1" i="0">
                <a:solidFill>
                  <a:srgbClr val="263238"/>
                </a:solidFill>
                <a:latin typeface="Meiryo"/>
              </a:rPr>
              <a:t>右端をドラッグ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すると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完了予定日のみを変更できます</a:t>
            </a:r>
          </a:p>
          <a:p>
            <a:pPr algn="l">
              <a:spcAft>
                <a:spcPts val="300"/>
              </a:spcAft>
            </a:pPr>
            <a:br>
              <a:rPr lang="ja-JP" sz="1000"/>
            </a:br>
            <a:r>
              <a:rPr sz="1000" b="0" i="1">
                <a:solidFill>
                  <a:srgbClr val="90A4AE"/>
                </a:solidFill>
                <a:latin typeface="Meiryo"/>
              </a:rPr>
              <a:t>開始日は変わらず、期間のみが変化します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2715768"/>
            <a:ext cx="416052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2715768"/>
            <a:ext cx="4160520" cy="2926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271576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出図希望日（▼マーク）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3063239"/>
            <a:ext cx="3941063" cy="1444751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図面タスクのバー上に</a:t>
            </a:r>
            <a:r>
              <a:rPr sz="1100" b="1" i="0">
                <a:solidFill>
                  <a:srgbClr val="263238"/>
                </a:solidFill>
                <a:latin typeface="Meiryo"/>
              </a:rPr>
              <a:t>黒い「▼」マーク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が表示されます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▼マークもドラッグして出図希望日を変更できます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▼の色：</a:t>
            </a:r>
            <a:r>
              <a:rPr sz="1100" b="1" i="0">
                <a:solidFill>
                  <a:srgbClr val="263238"/>
                </a:solidFill>
                <a:latin typeface="Meiryo"/>
              </a:rPr>
              <a:t>黒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 ＝ 余裕あり　</a:t>
            </a:r>
            <a:r>
              <a:rPr sz="1100" b="1" i="0">
                <a:solidFill>
                  <a:srgbClr val="E53935"/>
                </a:solidFill>
                <a:latin typeface="Meiryo"/>
              </a:rPr>
              <a:t>赤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 ＝ 出図希望日超過（遅延）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715768"/>
            <a:ext cx="4160520" cy="1810512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2715768"/>
            <a:ext cx="4160520" cy="29260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271576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表示単位の切り替え（日単位 / 週単位）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3063239"/>
            <a:ext cx="3941063" cy="1444751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eiryo"/>
              </a:rPr>
              <a:t>「日単位」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（デフォルト）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日付を1日単位で細かく表示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FFFFFF"/>
                </a:solidFill>
                <a:latin typeface="Meiryo"/>
              </a:rPr>
              <a:t>「週単位」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週単位でまとめて表示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全体スケジュールの把握に便利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絞り込み（フィルタリング）機能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86868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868680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8467344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工事番号フィルター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8467344" cy="914399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263238"/>
                </a:solidFill>
                <a:latin typeface="Meiryo"/>
              </a:rPr>
              <a:t>上部「工事番号: 全表示」プルダウンをクリック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3238"/>
                </a:solidFill>
                <a:latin typeface="Meiryo"/>
              </a:rPr>
              <a:t>表示したい工事番号にチェック</a:t>
            </a:r>
            <a:r>
              <a:rPr sz="1150" b="0" i="0">
                <a:solidFill>
                  <a:srgbClr val="263238"/>
                </a:solidFill>
                <a:latin typeface="Meiryo"/>
              </a:rPr>
              <a:t>（複数選択可）、全表示に戻すには「全表示」にチェック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157984"/>
            <a:ext cx="868680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2157984"/>
            <a:ext cx="868680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2157984"/>
            <a:ext cx="8467344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担当者フィルター（リソース表示時）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505456"/>
            <a:ext cx="8467344" cy="914399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263238"/>
                </a:solidFill>
                <a:latin typeface="Meiryo"/>
              </a:rPr>
              <a:t>「リソース表示」ボタンクリック後に画面上部に担当者フィルターが表示されます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263238"/>
                </a:solidFill>
                <a:latin typeface="Meiryo"/>
              </a:rPr>
              <a:t>特定の担当者のタスクだけを絞り込めます</a:t>
            </a:r>
            <a:r>
              <a:rPr sz="1150" b="0" i="0">
                <a:solidFill>
                  <a:srgbClr val="263238"/>
                </a:solidFill>
                <a:latin typeface="Meiryo"/>
              </a:rPr>
              <a:t>（複数選択可）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566160"/>
            <a:ext cx="86868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3566160"/>
            <a:ext cx="8686800" cy="292608"/>
          </a:xfrm>
          <a:prstGeom prst="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3566160"/>
            <a:ext cx="8467344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進捗の視覚的確認（進捗列）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" y="3913631"/>
            <a:ext cx="8467344" cy="1188719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263238"/>
                </a:solidFill>
                <a:latin typeface="Meiryo"/>
              </a:rPr>
              <a:t>進捗率 ＝ 完了枚数 ÷ 総枚数（%）で自動計算・表示されます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F57F17"/>
                </a:solidFill>
                <a:latin typeface="Meiryo"/>
              </a:rPr>
              <a:t>黄色のバー</a:t>
            </a:r>
            <a:r>
              <a:rPr sz="1150" b="0" i="0">
                <a:solidFill>
                  <a:srgbClr val="263238"/>
                </a:solidFill>
                <a:latin typeface="Meiryo"/>
              </a:rPr>
              <a:t>　：通常の進捗状況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E53935"/>
                </a:solidFill>
                <a:latin typeface="Meiryo"/>
              </a:rPr>
              <a:t>赤いバー（遅延アラート）</a:t>
            </a:r>
            <a:r>
              <a:rPr sz="1150" b="0" i="0">
                <a:solidFill>
                  <a:srgbClr val="263238"/>
                </a:solidFill>
                <a:latin typeface="Meiryo"/>
              </a:rPr>
              <a:t>　：完了予定日を過ぎているのに進捗0%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リソース表示（担当者別の業務状況確認）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7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416052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リソース表示の開き方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3941063" cy="105156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80CBC4"/>
                </a:solidFill>
                <a:latin typeface="Meiryo"/>
              </a:rPr>
              <a:t>「担当別」ボタン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 → 全画面リソースビューに切替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80CBC4"/>
                </a:solidFill>
                <a:latin typeface="Meiryo"/>
              </a:rPr>
              <a:t>「リソース表示」ボタン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 → ガントチャート下部に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リソースパネルを表示（並列表示）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2258568"/>
            <a:ext cx="416052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2258568"/>
            <a:ext cx="416052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225856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リソース表示の見方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606040"/>
            <a:ext cx="3941063" cy="2121408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各担当者の行にタスクのバーが時系列で表示されます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バーの色は担当者ごとに固定されています：</a:t>
            </a:r>
            <a:r>
              <a:rPr sz="1100" b="1" i="0">
                <a:solidFill>
                  <a:srgbClr val="E74C3C"/>
                </a:solidFill>
                <a:latin typeface="Meiryo"/>
              </a:rPr>
              <a:t>  藤山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（赤）  </a:t>
            </a:r>
            <a:r>
              <a:rPr sz="1100" b="1" i="0">
                <a:solidFill>
                  <a:srgbClr val="3498DB"/>
                </a:solidFill>
                <a:latin typeface="Meiryo"/>
              </a:rPr>
              <a:t>田中(善)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（青）  </a:t>
            </a:r>
            <a:r>
              <a:rPr sz="1100" b="1" i="0">
                <a:solidFill>
                  <a:srgbClr val="2ECC71"/>
                </a:solidFill>
                <a:latin typeface="Meiryo"/>
              </a:rPr>
              <a:t>安岡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（緑）  </a:t>
            </a:r>
            <a:r>
              <a:rPr sz="1100" b="1" i="0">
                <a:solidFill>
                  <a:srgbClr val="F39C12"/>
                </a:solidFill>
                <a:latin typeface="Meiryo"/>
              </a:rPr>
              <a:t>川邊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（橙）  等</a:t>
            </a:r>
          </a:p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担当者名をクリック</a:t>
            </a:r>
            <a:r>
              <a:rPr sz="1100" b="0" i="0">
                <a:solidFill>
                  <a:srgbClr val="263238"/>
                </a:solidFill>
                <a:latin typeface="Meiryo"/>
              </a:rPr>
              <a:t> → その担当者の詳細ビューに切替</a:t>
            </a:r>
          </a:p>
          <a:p>
            <a:pPr algn="l">
              <a:spcAft>
                <a:spcPts val="200"/>
              </a:spcAft>
            </a:pPr>
            <a:br>
              <a:rPr lang="ja-JP" sz="1000"/>
            </a:br>
            <a:r>
              <a:rPr sz="1000" b="0" i="1">
                <a:solidFill>
                  <a:srgbClr val="90A4AE"/>
                </a:solidFill>
                <a:latin typeface="Meiryo"/>
              </a:rPr>
              <a:t>スクロールはガントチャートとリソースパネルが連動します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749808"/>
            <a:ext cx="416052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0" y="749808"/>
            <a:ext cx="4160520" cy="2926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パネルのリサイズ・戻る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1097280"/>
            <a:ext cx="3941063" cy="105156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「← 一覧に戻る」ボタン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詳細ビューから担当者一覧に戻ります</a:t>
            </a:r>
          </a:p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境界線をドラッグ</a:t>
            </a:r>
            <a:br>
              <a:rPr lang="ja-JP" sz="1100"/>
            </a:br>
            <a:r>
              <a:rPr sz="1100" b="0" i="0">
                <a:solidFill>
                  <a:srgbClr val="263238"/>
                </a:solidFill>
                <a:latin typeface="Meiryo"/>
              </a:rPr>
              <a:t>　パネルの高さを自由に調整できます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2258568"/>
            <a:ext cx="416052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2258568"/>
            <a:ext cx="4160520" cy="292608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225856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リソース表示を閉じる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606040"/>
            <a:ext cx="3941063" cy="1207007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80CBC4"/>
                </a:solidFill>
                <a:latin typeface="Meiryo"/>
              </a:rPr>
              <a:t>【並列パネルを閉じる場合】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546E7A"/>
                </a:solidFill>
                <a:latin typeface="Meiryo"/>
              </a:rPr>
              <a:t>「×」ボタン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　：リソースパネルを閉じる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546E7A"/>
                </a:solidFill>
                <a:latin typeface="Meiryo"/>
              </a:rPr>
              <a:t>「メイン表示に戻す」ボタン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　：同ボタンを再クリックして閉じる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80CBC4"/>
                </a:solidFill>
                <a:latin typeface="Meiryo"/>
              </a:rPr>
              <a:t>【全画面リソースモードを終了する場合】</a:t>
            </a: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546E7A"/>
                </a:solidFill>
                <a:latin typeface="Meiryo"/>
              </a:rPr>
              <a:t>フィルタ（図面/計画/長納期品/出張）</a:t>
            </a:r>
            <a:r>
              <a:rPr sz="1050" b="0" i="0">
                <a:solidFill>
                  <a:srgbClr val="263238"/>
                </a:solidFill>
                <a:latin typeface="Meiryo"/>
              </a:rPr>
              <a:t>　：クリックでガントビューに切替</a:t>
            </a:r>
            <a:r>
              <a:rPr sz="950" b="0" i="1">
                <a:solidFill>
                  <a:srgbClr val="90A4AE"/>
                </a:solidFill>
                <a:latin typeface="Meiryo"/>
              </a:rPr>
              <a:t>　※「担当別」再クリックでは閉じられません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3913632"/>
            <a:ext cx="4160520" cy="850392"/>
          </a:xfrm>
          <a:prstGeom prst="rect">
            <a:avLst/>
          </a:prstGeom>
          <a:solidFill>
            <a:srgbClr val="FFF8E1"/>
          </a:solidFill>
          <a:ln w="19050">
            <a:solidFill>
              <a:srgbClr val="FFC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82896" y="3959352"/>
            <a:ext cx="3959352" cy="768096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F57F17"/>
                </a:solidFill>
                <a:latin typeface="Meiryo"/>
              </a:rPr>
              <a:t>ℹ ヒント</a:t>
            </a:r>
          </a:p>
          <a:p>
            <a:pPr algn="l"/>
            <a:r>
              <a:rPr sz="1050" b="0" i="0">
                <a:solidFill>
                  <a:srgbClr val="5D4037"/>
                </a:solidFill>
                <a:latin typeface="Meiryo"/>
              </a:rPr>
              <a:t>「リソース表示」ボタンで開いた場合、ガントチャートと並列表示されます。両者のスクロール位置は連動します。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アーカイブ機能（完了タスクの管理）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8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41605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749808"/>
            <a:ext cx="4160520" cy="292608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アーカイブとは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1097280"/>
            <a:ext cx="3941063" cy="59436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完了した工事のタスクをアーカイブ（保管）する機能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アーカイブしたタスクはメイン画面から非表示になります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過去の工事データの参照・コピーに活用できます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801368"/>
            <a:ext cx="41605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801368"/>
            <a:ext cx="4160520" cy="29260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" y="180136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アーカイブ管理（保管する）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" y="2148840"/>
            <a:ext cx="3941063" cy="1005839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263238"/>
                </a:solidFill>
                <a:latin typeface="Meiryo"/>
              </a:rPr>
              <a:t>「アーカイブ ▼」→「アーカイブ管理」を選択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263238"/>
                </a:solidFill>
                <a:latin typeface="Meiryo"/>
              </a:rPr>
              <a:t>アーカイブしたいタスクにチェックを入れて「アーカイブ実行」を押します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264408"/>
            <a:ext cx="4160520" cy="1463040"/>
          </a:xfrm>
          <a:prstGeom prst="rect">
            <a:avLst/>
          </a:prstGeom>
          <a:solidFill>
            <a:srgbClr val="FFF8E1"/>
          </a:solidFill>
          <a:ln w="19050">
            <a:solidFill>
              <a:srgbClr val="FFC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8600" y="3264408"/>
            <a:ext cx="4160520" cy="256032"/>
          </a:xfrm>
          <a:prstGeom prst="rect">
            <a:avLst/>
          </a:prstGeom>
          <a:solidFill>
            <a:srgbClr val="FFC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3264408"/>
            <a:ext cx="3941063" cy="256032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263238"/>
                </a:solidFill>
                <a:latin typeface="Meiryo"/>
              </a:rPr>
              <a:t>ℹ アーカイブ操作について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" y="3566160"/>
            <a:ext cx="3959352" cy="1115568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B5E20"/>
                </a:solidFill>
                <a:latin typeface="Meiryo"/>
              </a:rPr>
              <a:t>「戻す」ボタンで現役に戻せます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アーカイブ一覧の「戻す」ボタンを押すと、</a:t>
            </a:r>
            <a:br>
              <a:rPr lang="ja-JP" sz="1050"/>
            </a:br>
            <a:r>
              <a:rPr sz="1050" b="0" i="0">
                <a:solidFill>
                  <a:srgbClr val="263238"/>
                </a:solidFill>
                <a:latin typeface="Meiryo"/>
              </a:rPr>
              <a:t>その工事のすべてのタスクがメイン画面に復元されます。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749808"/>
            <a:ext cx="4160520" cy="3977639"/>
          </a:xfrm>
          <a:prstGeom prst="rect">
            <a:avLst/>
          </a:prstGeom>
          <a:solidFill>
            <a:srgbClr val="FFFFFF"/>
          </a:solidFill>
          <a:ln w="9525">
            <a:solidFill>
              <a:srgbClr val="CFD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0" y="749808"/>
            <a:ext cx="4160520" cy="29260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749808"/>
            <a:ext cx="3941063" cy="292608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アーカイブ一覧（復元・コピー）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1097280"/>
            <a:ext cx="3941063" cy="3611879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263238"/>
                </a:solidFill>
                <a:latin typeface="Meiryo"/>
              </a:rPr>
              <a:t>「アーカイブ ▼」→「アーカイブ一覧」を選択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アーカイブ済み工事が一覧表示されます</a:t>
            </a:r>
          </a:p>
          <a:p>
            <a:pPr algn="l">
              <a:spcAft>
                <a:spcPts val="100"/>
              </a:spcAft>
            </a:pP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565C0"/>
                </a:solidFill>
                <a:latin typeface="Meiryo"/>
              </a:rPr>
              <a:t>【復元する】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一覧の「戻す」ボタンをクリック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→ その工事の全タスクがメイン画面に戻ります</a:t>
            </a:r>
          </a:p>
          <a:p>
            <a:pPr algn="l">
              <a:spcAft>
                <a:spcPts val="100"/>
              </a:spcAft>
            </a:pPr>
          </a:p>
          <a:p>
            <a:pPr algn="l">
              <a:spcAft>
                <a:spcPts val="100"/>
              </a:spcAft>
            </a:pPr>
            <a:r>
              <a:rPr sz="1050" b="1" i="0">
                <a:solidFill>
                  <a:srgbClr val="1565C0"/>
                </a:solidFill>
                <a:latin typeface="Meiryo"/>
              </a:rPr>
              <a:t>【新工事にコピーする（表示モード単位）】</a:t>
            </a:r>
          </a:p>
          <a:p>
            <a:pPr algn="l">
              <a:spcAft>
                <a:spcPts val="100"/>
              </a:spcAft>
            </a:pPr>
            <a:r>
              <a:rPr sz="1050" b="0" i="1">
                <a:solidFill>
                  <a:srgbClr val="90A4AE"/>
                </a:solidFill>
                <a:latin typeface="Meiryo"/>
              </a:rPr>
              <a:t>※ コピーはタスク単位ではなく表示モード単位です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① 一覧の「詳細」ボタンをクリック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② タブ（図面/計画/長納期品/出張）でモードを選択して内容を確認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③「このモードをコピー」ボタンをクリック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④ 新しい工事番号を入力して「コピーして追加」</a:t>
            </a:r>
          </a:p>
          <a:p>
            <a:pPr algn="l">
              <a:spcAft>
                <a:spcPts val="100"/>
              </a:spcAft>
            </a:pPr>
            <a:r>
              <a:rPr sz="1050" b="0" i="0">
                <a:solidFill>
                  <a:srgbClr val="263238"/>
                </a:solidFill>
                <a:latin typeface="Meiryo"/>
              </a:rPr>
              <a:t>   → 選択モードの全タスクが新工事番号で一括コピーされます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0"/>
            <a:ext cx="8503920" cy="640080"/>
          </a:xfrm>
          <a:prstGeom prst="rect">
            <a:avLst/>
          </a:prstGeom>
          <a:noFill/>
        </p:spPr>
        <p:txBody insetl="0" insertr="0" insett="0" insetb="0"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eiryo"/>
              </a:rPr>
              <a:t>システム情報・注意事項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0" y="4773168"/>
            <a:ext cx="1600200" cy="228600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90A4AE"/>
                </a:solidFill>
                <a:latin typeface="Meiryo"/>
              </a:rPr>
              <a:t>9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749808"/>
            <a:ext cx="8686800" cy="3977639"/>
          </a:xfrm>
          <a:prstGeom prst="rect">
            <a:avLst/>
          </a:prstGeom>
          <a:solidFill>
            <a:srgbClr val="3747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914400"/>
            <a:ext cx="155448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80CBC4"/>
                </a:solidFill>
                <a:latin typeface="Meiryo"/>
              </a:rPr>
              <a:t>データの保存先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914400"/>
            <a:ext cx="676656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eiryo"/>
              </a:rPr>
              <a:t>クラウド（Supabase）に自動保存。編集内容はリアルタイムでDBに反映されます。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44752"/>
            <a:ext cx="8503920" cy="9144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517904"/>
            <a:ext cx="155448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80CBC4"/>
                </a:solidFill>
                <a:latin typeface="Meiryo"/>
              </a:rPr>
              <a:t>インターネット接続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1517904"/>
            <a:ext cx="676656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eiryo"/>
              </a:rPr>
              <a:t>使用にはインターネット接続が必要です。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048256"/>
            <a:ext cx="8503920" cy="9144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" y="2121408"/>
            <a:ext cx="155448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80CBC4"/>
                </a:solidFill>
                <a:latin typeface="Meiryo"/>
              </a:rPr>
              <a:t>同時使用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121408"/>
            <a:ext cx="676656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eiryo"/>
              </a:rPr>
              <a:t>複数人が同時に使用可能です。他の人の変更はF5（再読み込み）で画面に反映されます。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651760"/>
            <a:ext cx="8503920" cy="9144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2724912"/>
            <a:ext cx="155448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80CBC4"/>
                </a:solidFill>
                <a:latin typeface="Meiryo"/>
              </a:rPr>
              <a:t>対応ブラウザ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2724912"/>
            <a:ext cx="676656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eiryo"/>
              </a:rPr>
              <a:t>Chrome / Microsoft Edge 推奨。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255264"/>
            <a:ext cx="8503920" cy="9144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328416"/>
            <a:ext cx="155448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80CBC4"/>
                </a:solidFill>
                <a:latin typeface="Meiryo"/>
              </a:rPr>
              <a:t>ファイルの場所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328416"/>
            <a:ext cx="676656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eiryo"/>
              </a:rPr>
              <a:t>index.html をブラウザで直接開いて使用します。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858768"/>
            <a:ext cx="8503920" cy="9144"/>
          </a:xfrm>
          <a:prstGeom prst="rect">
            <a:avLst/>
          </a:prstGeom>
          <a:solidFill>
            <a:srgbClr val="54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0040" y="3931920"/>
            <a:ext cx="155448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FF8080"/>
                </a:solidFill>
                <a:latin typeface="Meiryo"/>
              </a:rPr>
              <a:t>操作の取り消し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3931920"/>
            <a:ext cx="6766560" cy="512064"/>
          </a:xfrm>
          <a:prstGeom prst="rect">
            <a:avLst/>
          </a:prstGeom>
          <a:noFill/>
        </p:spPr>
        <p:txBody insetl="0" insertr="0" insett="0" insetb="0"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eiryo"/>
              </a:rPr>
              <a:t>削除・アーカイブした操作は取り消しできません。Ctrl+Z も無効のため操作は慎重に行ってください。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