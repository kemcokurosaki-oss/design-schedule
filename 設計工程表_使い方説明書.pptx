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16" d="100"/>
          <a:sy n="116" d="100"/>
        </p:scale>
        <p:origin x="414" y="5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46E7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303520" y="0"/>
            <a:ext cx="3840480" cy="5143500"/>
          </a:xfrm>
          <a:prstGeom prst="rect">
            <a:avLst/>
          </a:prstGeom>
          <a:solidFill>
            <a:srgbClr val="374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11480" y="1005840"/>
            <a:ext cx="64008" cy="2377440"/>
          </a:xfrm>
          <a:prstGeom prst="rect">
            <a:avLst/>
          </a:prstGeom>
          <a:solidFill>
            <a:srgbClr val="80CB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457200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Meiryo"/>
              </a:rPr>
              <a:t>設計工程表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45720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 i="0">
                <a:solidFill>
                  <a:srgbClr val="CFD8DC"/>
                </a:solidFill>
                <a:latin typeface="Meiryo"/>
              </a:rPr>
              <a:t>使い方説明書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834640"/>
            <a:ext cx="2926080" cy="36576"/>
          </a:xfrm>
          <a:prstGeom prst="rect">
            <a:avLst/>
          </a:prstGeom>
          <a:solidFill>
            <a:srgbClr val="80CB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2944368"/>
            <a:ext cx="45720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B2DFDB"/>
                </a:solidFill>
                <a:latin typeface="Meiryo"/>
              </a:rPr>
              <a:t>設計部 業務ツール マニュアル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0" y="2103120"/>
            <a:ext cx="33832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Meiryo"/>
              </a:rPr>
              <a:t>設計部</a:t>
            </a:r>
          </a:p>
          <a:p>
            <a:pPr algn="ctr"/>
            <a:r>
              <a:rPr sz="1400" b="0" i="0">
                <a:solidFill>
                  <a:srgbClr val="CFD8DC"/>
                </a:solidFill>
                <a:latin typeface="Meiryo"/>
              </a:rPr>
              <a:t>業務ツール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4736592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90A4AE"/>
                </a:solidFill>
                <a:latin typeface="Meiryo"/>
              </a:rPr>
              <a:t>設計部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546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0"/>
            <a:ext cx="85039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Meiryo"/>
              </a:rPr>
              <a:t>画面の構成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546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0" y="4773168"/>
            <a:ext cx="1600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90A4AE"/>
                </a:solidFill>
                <a:latin typeface="Meiryo"/>
              </a:rPr>
              <a:t>2 / 9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749808"/>
            <a:ext cx="4160520" cy="4023360"/>
          </a:xfrm>
          <a:prstGeom prst="rect">
            <a:avLst/>
          </a:prstGeom>
          <a:solidFill>
            <a:srgbClr val="FFFFFF"/>
          </a:solidFill>
          <a:ln w="9525">
            <a:solidFill>
              <a:srgbClr val="CF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28600" y="749808"/>
            <a:ext cx="4160520" cy="292608"/>
          </a:xfrm>
          <a:prstGeom prst="rect">
            <a:avLst/>
          </a:prstGeom>
          <a:solidFill>
            <a:srgbClr val="546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38328" y="749808"/>
            <a:ext cx="3941063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Meiryo"/>
              </a:rPr>
              <a:t>上部ツールバー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" y="1097280"/>
            <a:ext cx="3941063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 i="0">
                <a:solidFill>
                  <a:srgbClr val="263238"/>
                </a:solidFill>
                <a:latin typeface="Meiryo"/>
              </a:rPr>
              <a:t>フィルターボタン</a:t>
            </a:r>
            <a:br>
              <a:rPr lang="ja-JP" sz="1050"/>
            </a:br>
            <a:r>
              <a:rPr sz="1050" b="0" i="0">
                <a:solidFill>
                  <a:srgbClr val="546E7A"/>
                </a:solidFill>
                <a:latin typeface="Meiryo"/>
              </a:rPr>
              <a:t>　担当別 / 計画 / 図面 / 長納期品 / 出張</a:t>
            </a:r>
          </a:p>
          <a:p>
            <a:pPr algn="l">
              <a:spcAft>
                <a:spcPts val="200"/>
              </a:spcAft>
            </a:pPr>
            <a:r>
              <a:rPr sz="1050" b="1" i="0">
                <a:solidFill>
                  <a:srgbClr val="263238"/>
                </a:solidFill>
                <a:latin typeface="Meiryo"/>
              </a:rPr>
              <a:t>表示単位切替</a:t>
            </a:r>
            <a:br>
              <a:rPr lang="ja-JP" sz="1050"/>
            </a:br>
            <a:r>
              <a:rPr sz="1050" b="0" i="0">
                <a:solidFill>
                  <a:srgbClr val="546E7A"/>
                </a:solidFill>
                <a:latin typeface="Meiryo"/>
              </a:rPr>
              <a:t>　日単位 / 週単位</a:t>
            </a:r>
          </a:p>
          <a:p>
            <a:pPr algn="l">
              <a:spcAft>
                <a:spcPts val="200"/>
              </a:spcAft>
            </a:pPr>
            <a:r>
              <a:rPr sz="1050" b="1" i="0">
                <a:solidFill>
                  <a:srgbClr val="263238"/>
                </a:solidFill>
                <a:latin typeface="Meiryo"/>
              </a:rPr>
              <a:t>工事番号フィルター</a:t>
            </a:r>
            <a:br>
              <a:rPr lang="ja-JP" sz="1050"/>
            </a:br>
            <a:r>
              <a:rPr sz="1050" b="0" i="0">
                <a:solidFill>
                  <a:srgbClr val="546E7A"/>
                </a:solidFill>
                <a:latin typeface="Meiryo"/>
              </a:rPr>
              <a:t>　プルダウンで複数選択可能</a:t>
            </a:r>
          </a:p>
          <a:p>
            <a:pPr algn="l">
              <a:spcAft>
                <a:spcPts val="200"/>
              </a:spcAft>
            </a:pPr>
            <a:r>
              <a:rPr sz="1050" b="1" i="0">
                <a:solidFill>
                  <a:srgbClr val="263238"/>
                </a:solidFill>
                <a:latin typeface="Meiryo"/>
              </a:rPr>
              <a:t>担当者フィルター</a:t>
            </a:r>
            <a:br>
              <a:rPr lang="ja-JP" sz="1050"/>
            </a:br>
            <a:r>
              <a:rPr sz="1050" b="0" i="0">
                <a:solidFill>
                  <a:srgbClr val="546E7A"/>
                </a:solidFill>
                <a:latin typeface="Meiryo"/>
              </a:rPr>
              <a:t>　リソース表示時に表示される</a:t>
            </a:r>
          </a:p>
          <a:p>
            <a:pPr algn="l">
              <a:spcAft>
                <a:spcPts val="200"/>
              </a:spcAft>
            </a:pPr>
            <a:r>
              <a:rPr sz="1050" b="1" i="0">
                <a:solidFill>
                  <a:srgbClr val="263238"/>
                </a:solidFill>
                <a:latin typeface="Meiryo"/>
              </a:rPr>
              <a:t>リソース表示ボタン</a:t>
            </a:r>
            <a:br>
              <a:rPr lang="ja-JP" sz="1050"/>
            </a:br>
            <a:r>
              <a:rPr sz="1050" b="0" i="0">
                <a:solidFill>
                  <a:srgbClr val="546E7A"/>
                </a:solidFill>
                <a:latin typeface="Meiryo"/>
              </a:rPr>
              <a:t>　担当者別の業務状況を表示</a:t>
            </a:r>
          </a:p>
          <a:p>
            <a:pPr algn="l">
              <a:spcAft>
                <a:spcPts val="200"/>
              </a:spcAft>
            </a:pPr>
            <a:r>
              <a:rPr sz="1050" b="1" i="0">
                <a:solidFill>
                  <a:srgbClr val="43A047"/>
                </a:solidFill>
                <a:latin typeface="Meiryo"/>
              </a:rPr>
              <a:t>＋ 新規タスク追加</a:t>
            </a:r>
            <a:br>
              <a:rPr lang="ja-JP" sz="1050"/>
            </a:br>
            <a:r>
              <a:rPr sz="1050" b="0" i="0">
                <a:solidFill>
                  <a:srgbClr val="546E7A"/>
                </a:solidFill>
                <a:latin typeface="Meiryo"/>
              </a:rPr>
              <a:t>　新しいタスクを末尾に追加</a:t>
            </a:r>
          </a:p>
          <a:p>
            <a:pPr algn="l">
              <a:spcAft>
                <a:spcPts val="200"/>
              </a:spcAft>
            </a:pPr>
            <a:r>
              <a:rPr sz="1050" b="1" i="0">
                <a:solidFill>
                  <a:srgbClr val="263238"/>
                </a:solidFill>
                <a:latin typeface="Meiryo"/>
              </a:rPr>
              <a:t>アーカイブ ▼</a:t>
            </a:r>
            <a:br>
              <a:rPr lang="ja-JP" sz="1050"/>
            </a:br>
            <a:r>
              <a:rPr sz="1050" b="0" i="0">
                <a:solidFill>
                  <a:srgbClr val="546E7A"/>
                </a:solidFill>
                <a:latin typeface="Meiryo"/>
              </a:rPr>
              <a:t>　完了工事の保管・参照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54880" y="749808"/>
            <a:ext cx="4160520" cy="4023360"/>
          </a:xfrm>
          <a:prstGeom prst="rect">
            <a:avLst/>
          </a:prstGeom>
          <a:solidFill>
            <a:srgbClr val="FFFFFF"/>
          </a:solidFill>
          <a:ln w="9525">
            <a:solidFill>
              <a:srgbClr val="CF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754880" y="749808"/>
            <a:ext cx="4160520" cy="292608"/>
          </a:xfrm>
          <a:prstGeom prst="rect">
            <a:avLst/>
          </a:prstGeom>
          <a:solidFill>
            <a:srgbClr val="374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864608" y="749808"/>
            <a:ext cx="3941063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Meiryo"/>
              </a:rPr>
              <a:t>メイン画面（ガントチャート）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64608" y="1097280"/>
            <a:ext cx="3941063" cy="23211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 i="0" dirty="0" err="1">
                <a:solidFill>
                  <a:srgbClr val="263238"/>
                </a:solidFill>
                <a:latin typeface="Meiryo"/>
              </a:rPr>
              <a:t>左側：タスク一覧グリッド</a:t>
            </a:r>
            <a:br>
              <a:rPr lang="ja-JP" sz="1050" dirty="0"/>
            </a:br>
            <a:r>
              <a:rPr sz="1050" b="0" i="0" dirty="0">
                <a:solidFill>
                  <a:srgbClr val="546E7A"/>
                </a:solidFill>
                <a:latin typeface="Meiryo"/>
              </a:rPr>
              <a:t>　</a:t>
            </a:r>
            <a:r>
              <a:rPr sz="1050" b="0" i="0" dirty="0" err="1">
                <a:solidFill>
                  <a:srgbClr val="546E7A"/>
                </a:solidFill>
                <a:latin typeface="Meiryo"/>
              </a:rPr>
              <a:t>工事番号・機械・タスク名</a:t>
            </a:r>
            <a:br>
              <a:rPr lang="ja-JP" sz="1050" dirty="0"/>
            </a:br>
            <a:r>
              <a:rPr sz="1050" b="0" i="0" dirty="0">
                <a:solidFill>
                  <a:srgbClr val="546E7A"/>
                </a:solidFill>
                <a:latin typeface="Meiryo"/>
              </a:rPr>
              <a:t>　</a:t>
            </a:r>
            <a:r>
              <a:rPr sz="1050" b="0" i="0" dirty="0" err="1">
                <a:solidFill>
                  <a:srgbClr val="546E7A"/>
                </a:solidFill>
                <a:latin typeface="Meiryo"/>
              </a:rPr>
              <a:t>担当者・進捗</a:t>
            </a:r>
            <a:r>
              <a:rPr sz="1050" b="0" i="0" dirty="0">
                <a:solidFill>
                  <a:srgbClr val="546E7A"/>
                </a:solidFill>
                <a:latin typeface="Meiryo"/>
              </a:rPr>
              <a:t> </a:t>
            </a:r>
            <a:r>
              <a:rPr sz="1050" b="0" i="0" dirty="0" err="1">
                <a:solidFill>
                  <a:srgbClr val="546E7A"/>
                </a:solidFill>
                <a:latin typeface="Meiryo"/>
              </a:rPr>
              <a:t>など</a:t>
            </a:r>
            <a:endParaRPr sz="1050" b="0" i="0" dirty="0">
              <a:solidFill>
                <a:srgbClr val="546E7A"/>
              </a:solidFill>
              <a:latin typeface="Meiryo"/>
            </a:endParaRPr>
          </a:p>
          <a:p>
            <a:pPr algn="l">
              <a:spcAft>
                <a:spcPts val="200"/>
              </a:spcAft>
            </a:pPr>
            <a:r>
              <a:rPr sz="1050" b="1" i="0" dirty="0" err="1">
                <a:solidFill>
                  <a:srgbClr val="263238"/>
                </a:solidFill>
                <a:latin typeface="Meiryo"/>
              </a:rPr>
              <a:t>右側：タイムライン</a:t>
            </a:r>
            <a:br>
              <a:rPr lang="ja-JP" sz="1050" dirty="0"/>
            </a:br>
            <a:r>
              <a:rPr sz="1050" b="0" i="0" dirty="0">
                <a:solidFill>
                  <a:srgbClr val="546E7A"/>
                </a:solidFill>
                <a:latin typeface="Meiryo"/>
              </a:rPr>
              <a:t>　</a:t>
            </a:r>
            <a:r>
              <a:rPr sz="1050" b="0" i="0" dirty="0" err="1">
                <a:solidFill>
                  <a:srgbClr val="546E7A"/>
                </a:solidFill>
                <a:latin typeface="Meiryo"/>
              </a:rPr>
              <a:t>バーをドラッグで日程変更可能</a:t>
            </a:r>
            <a:endParaRPr sz="1050" b="0" i="0" dirty="0">
              <a:solidFill>
                <a:srgbClr val="546E7A"/>
              </a:solidFill>
              <a:latin typeface="Meiryo"/>
            </a:endParaRPr>
          </a:p>
          <a:p>
            <a:pPr algn="l">
              <a:spcAft>
                <a:spcPts val="200"/>
              </a:spcAft>
            </a:pPr>
            <a:r>
              <a:rPr sz="1050" b="1" i="0" dirty="0" err="1">
                <a:solidFill>
                  <a:srgbClr val="E53935"/>
                </a:solidFill>
                <a:latin typeface="Meiryo"/>
              </a:rPr>
              <a:t>赤い縦線（今日マーカ</a:t>
            </a:r>
            <a:r>
              <a:rPr sz="1050" b="1" i="0" dirty="0">
                <a:solidFill>
                  <a:srgbClr val="E53935"/>
                </a:solidFill>
                <a:latin typeface="Meiryo"/>
              </a:rPr>
              <a:t>ー）</a:t>
            </a:r>
            <a:br>
              <a:rPr lang="ja-JP" sz="1050" dirty="0"/>
            </a:br>
            <a:r>
              <a:rPr sz="1050" b="0" i="0" dirty="0">
                <a:solidFill>
                  <a:srgbClr val="546E7A"/>
                </a:solidFill>
                <a:latin typeface="Meiryo"/>
              </a:rPr>
              <a:t>　</a:t>
            </a:r>
            <a:r>
              <a:rPr sz="1050" b="0" i="0" dirty="0" err="1">
                <a:solidFill>
                  <a:srgbClr val="546E7A"/>
                </a:solidFill>
                <a:latin typeface="Meiryo"/>
              </a:rPr>
              <a:t>本日の位置を示します</a:t>
            </a:r>
            <a:endParaRPr sz="1050" b="0" i="0" dirty="0">
              <a:solidFill>
                <a:srgbClr val="546E7A"/>
              </a:solidFill>
              <a:latin typeface="Meiryo"/>
            </a:endParaRPr>
          </a:p>
          <a:p>
            <a:pPr algn="l">
              <a:spcAft>
                <a:spcPts val="200"/>
              </a:spcAft>
            </a:pPr>
            <a:r>
              <a:rPr sz="1050" b="1" i="0" dirty="0" err="1">
                <a:solidFill>
                  <a:srgbClr val="263238"/>
                </a:solidFill>
                <a:latin typeface="Meiryo"/>
              </a:rPr>
              <a:t>土日・祝日</a:t>
            </a:r>
            <a:br>
              <a:rPr lang="ja-JP" sz="1050" dirty="0"/>
            </a:br>
            <a:r>
              <a:rPr sz="1050" b="0" i="0" dirty="0">
                <a:solidFill>
                  <a:srgbClr val="546E7A"/>
                </a:solidFill>
                <a:latin typeface="Meiryo"/>
              </a:rPr>
              <a:t>　</a:t>
            </a:r>
            <a:r>
              <a:rPr sz="1050" b="0" i="0" dirty="0" err="1">
                <a:solidFill>
                  <a:srgbClr val="546E7A"/>
                </a:solidFill>
                <a:latin typeface="Meiryo"/>
              </a:rPr>
              <a:t>グレー背景で識別できます</a:t>
            </a:r>
            <a:endParaRPr sz="1050" b="0" i="0" dirty="0">
              <a:solidFill>
                <a:srgbClr val="546E7A"/>
              </a:solidFill>
              <a:latin typeface="Meiryo"/>
            </a:endParaRPr>
          </a:p>
          <a:p>
            <a:pPr algn="l">
              <a:spcAft>
                <a:spcPts val="200"/>
              </a:spcAft>
            </a:pPr>
            <a:r>
              <a:rPr sz="1050" b="1" i="0" dirty="0">
                <a:solidFill>
                  <a:srgbClr val="263238"/>
                </a:solidFill>
                <a:latin typeface="Meiryo"/>
              </a:rPr>
              <a:t>▼</a:t>
            </a:r>
            <a:r>
              <a:rPr sz="1050" b="1" i="0" dirty="0" err="1">
                <a:solidFill>
                  <a:srgbClr val="263238"/>
                </a:solidFill>
                <a:latin typeface="Meiryo"/>
              </a:rPr>
              <a:t>マーク（出図希望日</a:t>
            </a:r>
            <a:r>
              <a:rPr lang="ja-JP" altLang="en-US" sz="1050" b="1" i="0" dirty="0">
                <a:solidFill>
                  <a:srgbClr val="263238"/>
                </a:solidFill>
                <a:latin typeface="Meiryo"/>
              </a:rPr>
              <a:t>・</a:t>
            </a:r>
            <a:r>
              <a:rPr lang="ja-JP" altLang="en-US" sz="1050" b="1" i="0" dirty="0">
                <a:solidFill>
                  <a:srgbClr val="263238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手配期日</a:t>
            </a:r>
            <a:r>
              <a:rPr sz="1050" b="1" i="0" dirty="0">
                <a:solidFill>
                  <a:srgbClr val="263238"/>
                </a:solidFill>
                <a:latin typeface="Meiryo"/>
              </a:rPr>
              <a:t>）</a:t>
            </a:r>
            <a:br>
              <a:rPr lang="ja-JP" sz="1050" dirty="0"/>
            </a:br>
            <a:r>
              <a:rPr sz="1050" b="0" i="0" dirty="0">
                <a:solidFill>
                  <a:srgbClr val="546E7A"/>
                </a:solidFill>
                <a:latin typeface="Meiryo"/>
              </a:rPr>
              <a:t>　</a:t>
            </a:r>
            <a:r>
              <a:rPr sz="1050" b="0" i="0" dirty="0" err="1">
                <a:solidFill>
                  <a:srgbClr val="546E7A"/>
                </a:solidFill>
                <a:latin typeface="Meiryo"/>
              </a:rPr>
              <a:t>図面</a:t>
            </a:r>
            <a:r>
              <a:rPr lang="ja-JP" altLang="en-US" sz="1050" b="0" i="0" dirty="0">
                <a:solidFill>
                  <a:srgbClr val="546E7A"/>
                </a:solidFill>
                <a:latin typeface="Meiryo"/>
              </a:rPr>
              <a:t>・</a:t>
            </a:r>
            <a:r>
              <a:rPr lang="ja-JP" altLang="en-US" sz="1050" b="0" i="0" dirty="0">
                <a:solidFill>
                  <a:srgbClr val="546E7A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長納期品</a:t>
            </a:r>
            <a:r>
              <a:rPr sz="1050" b="0" i="0" dirty="0" err="1">
                <a:solidFill>
                  <a:srgbClr val="546E7A"/>
                </a:solidFill>
                <a:latin typeface="Meiryo"/>
              </a:rPr>
              <a:t>タスクバー上に表示</a:t>
            </a:r>
            <a:br>
              <a:rPr lang="ja-JP" sz="1050" dirty="0"/>
            </a:br>
            <a:r>
              <a:rPr sz="1050" b="0" i="0" dirty="0">
                <a:solidFill>
                  <a:srgbClr val="546E7A"/>
                </a:solidFill>
                <a:latin typeface="Meiryo"/>
              </a:rPr>
              <a:t>　</a:t>
            </a:r>
            <a:r>
              <a:rPr sz="1050" b="0" i="0" dirty="0" err="1">
                <a:solidFill>
                  <a:srgbClr val="546E7A"/>
                </a:solidFill>
                <a:latin typeface="Meiryo"/>
              </a:rPr>
              <a:t>ドラッグで日程変更可能</a:t>
            </a:r>
            <a:endParaRPr lang="en-US" sz="1050" b="0" i="0" dirty="0">
              <a:solidFill>
                <a:srgbClr val="546E7A"/>
              </a:solidFill>
              <a:latin typeface="Meiryo"/>
            </a:endParaRPr>
          </a:p>
          <a:p>
            <a:pPr algn="l">
              <a:spcAft>
                <a:spcPts val="200"/>
              </a:spcAft>
            </a:pPr>
            <a:r>
              <a:rPr lang="ja-JP" altLang="en-US" sz="1050" dirty="0">
                <a:solidFill>
                  <a:srgbClr val="546E7A"/>
                </a:solidFill>
                <a:latin typeface="Meiryo"/>
              </a:rPr>
              <a:t>　</a:t>
            </a:r>
            <a:r>
              <a:rPr lang="en-US" altLang="ja-JP" sz="1050" dirty="0">
                <a:solidFill>
                  <a:schemeClr val="bg1">
                    <a:lumMod val="6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※</a:t>
            </a:r>
            <a:r>
              <a:rPr lang="ja-JP" altLang="en-US" sz="1050" dirty="0">
                <a:solidFill>
                  <a:schemeClr val="bg1">
                    <a:lumMod val="6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製造管理部が変更</a:t>
            </a:r>
            <a:endParaRPr sz="1050" b="0" i="0" dirty="0">
              <a:solidFill>
                <a:schemeClr val="bg1">
                  <a:lumMod val="6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546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0"/>
            <a:ext cx="85039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Meiryo"/>
              </a:rPr>
              <a:t>表示モード（タスクタイプ）の切り替え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546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0" y="4773168"/>
            <a:ext cx="1600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90A4AE"/>
                </a:solidFill>
                <a:latin typeface="Meiryo"/>
              </a:rPr>
              <a:t>3 / 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731520"/>
            <a:ext cx="85953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1">
                <a:solidFill>
                  <a:srgbClr val="546E7A"/>
                </a:solidFill>
                <a:latin typeface="Meiryo"/>
              </a:rPr>
              <a:t>ボタンをクリックしてタスクタイプを切り替えます。同時に1種類のみ表示されます。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051560"/>
            <a:ext cx="8595360" cy="338328"/>
          </a:xfrm>
          <a:prstGeom prst="rect">
            <a:avLst/>
          </a:prstGeom>
          <a:solidFill>
            <a:srgbClr val="374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47472" y="1051560"/>
            <a:ext cx="1234440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eiryo"/>
              </a:rPr>
              <a:t>ボタン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81912" y="1051560"/>
            <a:ext cx="2926080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eiryo"/>
              </a:rPr>
              <a:t>内容・目的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07992" y="1051560"/>
            <a:ext cx="4709160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eiryo"/>
              </a:rPr>
              <a:t>主な列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389888"/>
            <a:ext cx="859536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CF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74320" y="1389888"/>
            <a:ext cx="1234440" cy="658368"/>
          </a:xfrm>
          <a:prstGeom prst="rect">
            <a:avLst/>
          </a:prstGeom>
          <a:solidFill>
            <a:srgbClr val="546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74320" y="1592114"/>
            <a:ext cx="1234440" cy="2539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1" i="0" dirty="0" err="1">
                <a:solidFill>
                  <a:srgbClr val="FFFFFF"/>
                </a:solidFill>
                <a:latin typeface="Meiryo"/>
              </a:rPr>
              <a:t>図面</a:t>
            </a:r>
            <a:endParaRPr sz="1050" b="1" i="0" dirty="0">
              <a:solidFill>
                <a:srgbClr val="FFFFFF"/>
              </a:solidFill>
              <a:latin typeface="Meiryo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536192" y="1426464"/>
            <a:ext cx="2880360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 i="0" dirty="0" err="1">
                <a:solidFill>
                  <a:srgbClr val="263238"/>
                </a:solidFill>
                <a:latin typeface="Meiryo"/>
              </a:rPr>
              <a:t>組立図面の設計進捗管理</a:t>
            </a:r>
            <a:endParaRPr sz="1050" b="0" i="0" dirty="0">
              <a:solidFill>
                <a:srgbClr val="263238"/>
              </a:solidFill>
              <a:latin typeface="Meiryo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462272" y="1426464"/>
            <a:ext cx="4663440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 dirty="0" err="1">
                <a:solidFill>
                  <a:srgbClr val="263238"/>
                </a:solidFill>
                <a:latin typeface="Meiryo"/>
              </a:rPr>
              <a:t>工事番号・機械・ユニット・組立図面名</a:t>
            </a:r>
            <a:br>
              <a:rPr lang="ja-JP" sz="1000" dirty="0"/>
            </a:br>
            <a:r>
              <a:rPr sz="1000" b="0" i="0" dirty="0" err="1">
                <a:solidFill>
                  <a:srgbClr val="263238"/>
                </a:solidFill>
                <a:latin typeface="Meiryo"/>
              </a:rPr>
              <a:t>機種・総枚数・完了枚数・進捗・完了予定日</a:t>
            </a:r>
            <a:endParaRPr sz="1000" b="0" i="0" dirty="0">
              <a:solidFill>
                <a:srgbClr val="263238"/>
              </a:solidFill>
              <a:latin typeface="Meiryo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1490472" y="1389888"/>
            <a:ext cx="18288" cy="658368"/>
          </a:xfrm>
          <a:prstGeom prst="rect">
            <a:avLst/>
          </a:prstGeom>
          <a:solidFill>
            <a:srgbClr val="CF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416552" y="1389888"/>
            <a:ext cx="18288" cy="658368"/>
          </a:xfrm>
          <a:prstGeom prst="rect">
            <a:avLst/>
          </a:prstGeom>
          <a:solidFill>
            <a:srgbClr val="CF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274320" y="2048256"/>
            <a:ext cx="8595360" cy="658368"/>
          </a:xfrm>
          <a:prstGeom prst="rect">
            <a:avLst/>
          </a:prstGeom>
          <a:solidFill>
            <a:srgbClr val="ECEFF1"/>
          </a:solidFill>
          <a:ln w="6350">
            <a:solidFill>
              <a:srgbClr val="CF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274320" y="2048256"/>
            <a:ext cx="1234440" cy="658368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74320" y="2048256"/>
            <a:ext cx="123444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Meiryo"/>
              </a:rPr>
              <a:t>計画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36192" y="2084832"/>
            <a:ext cx="2880360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 i="0">
                <a:solidFill>
                  <a:srgbClr val="263238"/>
                </a:solidFill>
                <a:latin typeface="Meiryo"/>
              </a:rPr>
              <a:t>工事計画・スケジュール管理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80560" y="2200245"/>
            <a:ext cx="4663440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 dirty="0" err="1">
                <a:solidFill>
                  <a:srgbClr val="263238"/>
                </a:solidFill>
                <a:latin typeface="Meiryo"/>
              </a:rPr>
              <a:t>工事番号</a:t>
            </a:r>
            <a:r>
              <a:rPr sz="1000" b="0" i="0" dirty="0">
                <a:solidFill>
                  <a:srgbClr val="263238"/>
                </a:solidFill>
                <a:latin typeface="Meiryo"/>
              </a:rPr>
              <a:t>・</a:t>
            </a:r>
            <a:r>
              <a:rPr lang="ja-JP" altLang="en-US" sz="1000" b="0" i="0" dirty="0">
                <a:solidFill>
                  <a:srgbClr val="263238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機械・ユニット</a:t>
            </a:r>
            <a:r>
              <a:rPr sz="1000" b="0" i="0" dirty="0">
                <a:solidFill>
                  <a:srgbClr val="263238"/>
                </a:solidFill>
                <a:latin typeface="Meiryo"/>
              </a:rPr>
              <a:t>・</a:t>
            </a:r>
            <a:r>
              <a:rPr sz="1000" b="0" i="0" dirty="0" err="1">
                <a:solidFill>
                  <a:srgbClr val="263238"/>
                </a:solidFill>
                <a:latin typeface="Meiryo"/>
              </a:rPr>
              <a:t>タスク</a:t>
            </a:r>
            <a:br>
              <a:rPr lang="ja-JP" sz="1000" dirty="0"/>
            </a:br>
            <a:r>
              <a:rPr sz="1000" b="0" i="0" dirty="0" err="1">
                <a:solidFill>
                  <a:srgbClr val="263238"/>
                </a:solidFill>
                <a:latin typeface="Meiryo"/>
              </a:rPr>
              <a:t>担当・開始日・終了日</a:t>
            </a:r>
            <a:endParaRPr sz="1000" b="0" i="0" dirty="0">
              <a:solidFill>
                <a:srgbClr val="263238"/>
              </a:solidFill>
              <a:latin typeface="Meiryo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1490472" y="2048256"/>
            <a:ext cx="18288" cy="658368"/>
          </a:xfrm>
          <a:prstGeom prst="rect">
            <a:avLst/>
          </a:prstGeom>
          <a:solidFill>
            <a:srgbClr val="CF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416552" y="2048256"/>
            <a:ext cx="18288" cy="658368"/>
          </a:xfrm>
          <a:prstGeom prst="rect">
            <a:avLst/>
          </a:prstGeom>
          <a:solidFill>
            <a:srgbClr val="CF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274320" y="2706624"/>
            <a:ext cx="859536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CF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274320" y="2706624"/>
            <a:ext cx="1234440" cy="658368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274320" y="2706624"/>
            <a:ext cx="123444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Meiryo"/>
              </a:rPr>
              <a:t>長納期品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36192" y="2743200"/>
            <a:ext cx="2880360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 i="0">
                <a:solidFill>
                  <a:srgbClr val="263238"/>
                </a:solidFill>
                <a:latin typeface="Meiryo"/>
              </a:rPr>
              <a:t>発注が必要な長納期部品の管理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62272" y="2835753"/>
            <a:ext cx="4663440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 dirty="0" err="1">
                <a:solidFill>
                  <a:srgbClr val="263238"/>
                </a:solidFill>
                <a:latin typeface="Meiryo"/>
              </a:rPr>
              <a:t>工事番号</a:t>
            </a:r>
            <a:r>
              <a:rPr sz="1000" b="0" i="0" dirty="0">
                <a:solidFill>
                  <a:srgbClr val="263238"/>
                </a:solidFill>
                <a:latin typeface="Meiryo"/>
              </a:rPr>
              <a:t>・</a:t>
            </a:r>
            <a:r>
              <a:rPr lang="ja-JP" altLang="en-US" sz="1000" b="0" i="0" dirty="0">
                <a:solidFill>
                  <a:srgbClr val="263238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機械・ユニット</a:t>
            </a:r>
            <a:r>
              <a:rPr lang="ja-JP" altLang="en-US" sz="1000" b="0" i="0" dirty="0">
                <a:solidFill>
                  <a:srgbClr val="263238"/>
                </a:solidFill>
                <a:latin typeface="Meiryo"/>
              </a:rPr>
              <a:t>・</a:t>
            </a:r>
            <a:r>
              <a:rPr sz="1000" b="0" i="0" dirty="0" err="1">
                <a:solidFill>
                  <a:srgbClr val="263238"/>
                </a:solidFill>
                <a:latin typeface="Meiryo"/>
              </a:rPr>
              <a:t>品名・型式図番・個数</a:t>
            </a:r>
            <a:br>
              <a:rPr lang="ja-JP" sz="1000" dirty="0"/>
            </a:br>
            <a:r>
              <a:rPr sz="1000" b="0" i="0" dirty="0" err="1">
                <a:solidFill>
                  <a:srgbClr val="263238"/>
                </a:solidFill>
                <a:latin typeface="Meiryo"/>
              </a:rPr>
              <a:t>メーカ</a:t>
            </a:r>
            <a:r>
              <a:rPr sz="1000" b="0" i="0" dirty="0">
                <a:solidFill>
                  <a:srgbClr val="263238"/>
                </a:solidFill>
                <a:latin typeface="Meiryo"/>
              </a:rPr>
              <a:t>ー・</a:t>
            </a:r>
            <a:r>
              <a:rPr sz="1000" b="0" i="0" dirty="0" err="1">
                <a:solidFill>
                  <a:srgbClr val="263238"/>
                </a:solidFill>
                <a:latin typeface="Meiryo"/>
              </a:rPr>
              <a:t>担当・手配予定日・状態</a:t>
            </a:r>
            <a:endParaRPr sz="1000" b="0" i="0" dirty="0">
              <a:solidFill>
                <a:srgbClr val="263238"/>
              </a:solidFill>
              <a:latin typeface="Meiryo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1490472" y="2706624"/>
            <a:ext cx="18288" cy="658368"/>
          </a:xfrm>
          <a:prstGeom prst="rect">
            <a:avLst/>
          </a:prstGeom>
          <a:solidFill>
            <a:srgbClr val="CF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4416552" y="2706624"/>
            <a:ext cx="18288" cy="658368"/>
          </a:xfrm>
          <a:prstGeom prst="rect">
            <a:avLst/>
          </a:prstGeom>
          <a:solidFill>
            <a:srgbClr val="CF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274320" y="3364992"/>
            <a:ext cx="8595360" cy="658368"/>
          </a:xfrm>
          <a:prstGeom prst="rect">
            <a:avLst/>
          </a:prstGeom>
          <a:solidFill>
            <a:srgbClr val="ECEFF1"/>
          </a:solidFill>
          <a:ln w="6350">
            <a:solidFill>
              <a:srgbClr val="CF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274320" y="3364992"/>
            <a:ext cx="1234440" cy="658368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274320" y="3364992"/>
            <a:ext cx="123444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Meiryo"/>
              </a:rPr>
              <a:t>出張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36192" y="3401568"/>
            <a:ext cx="2880360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 i="0">
                <a:solidFill>
                  <a:srgbClr val="263238"/>
                </a:solidFill>
                <a:latin typeface="Meiryo"/>
              </a:rPr>
              <a:t>出張スケジュールの管理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62272" y="3494121"/>
            <a:ext cx="4663440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 dirty="0" err="1">
                <a:solidFill>
                  <a:srgbClr val="263238"/>
                </a:solidFill>
                <a:latin typeface="Meiryo"/>
              </a:rPr>
              <a:t>工事番号・機械</a:t>
            </a:r>
            <a:r>
              <a:rPr sz="1000" b="0" i="0" dirty="0">
                <a:solidFill>
                  <a:srgbClr val="263238"/>
                </a:solidFill>
                <a:latin typeface="Meiryo"/>
              </a:rPr>
              <a:t>・</a:t>
            </a:r>
            <a:r>
              <a:rPr lang="ja-JP" altLang="en-US" sz="1000" b="0" i="0" dirty="0">
                <a:solidFill>
                  <a:srgbClr val="263238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ユニット</a:t>
            </a:r>
            <a:r>
              <a:rPr lang="ja-JP" altLang="en-US" sz="1000" b="0" i="0" dirty="0">
                <a:solidFill>
                  <a:srgbClr val="263238"/>
                </a:solidFill>
                <a:latin typeface="Meiryo"/>
              </a:rPr>
              <a:t>・</a:t>
            </a:r>
            <a:r>
              <a:rPr sz="1000" b="0" i="0" dirty="0" err="1">
                <a:solidFill>
                  <a:srgbClr val="263238"/>
                </a:solidFill>
                <a:latin typeface="Meiryo"/>
              </a:rPr>
              <a:t>タスク</a:t>
            </a:r>
            <a:br>
              <a:rPr lang="ja-JP" sz="1000" dirty="0"/>
            </a:br>
            <a:r>
              <a:rPr sz="1000" b="0" i="0" dirty="0" err="1">
                <a:solidFill>
                  <a:srgbClr val="263238"/>
                </a:solidFill>
                <a:latin typeface="Meiryo"/>
              </a:rPr>
              <a:t>担当・開始日・終了日</a:t>
            </a:r>
            <a:endParaRPr sz="1000" b="0" i="0" dirty="0">
              <a:solidFill>
                <a:srgbClr val="263238"/>
              </a:solidFill>
              <a:latin typeface="Meiryo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1490472" y="3364992"/>
            <a:ext cx="18288" cy="658368"/>
          </a:xfrm>
          <a:prstGeom prst="rect">
            <a:avLst/>
          </a:prstGeom>
          <a:solidFill>
            <a:srgbClr val="CF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4416552" y="3364992"/>
            <a:ext cx="18288" cy="658368"/>
          </a:xfrm>
          <a:prstGeom prst="rect">
            <a:avLst/>
          </a:prstGeom>
          <a:solidFill>
            <a:srgbClr val="CF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274320" y="4023360"/>
            <a:ext cx="859536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CF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274320" y="4023360"/>
            <a:ext cx="1234440" cy="658368"/>
          </a:xfrm>
          <a:prstGeom prst="rect">
            <a:avLst/>
          </a:prstGeom>
          <a:solidFill>
            <a:srgbClr val="374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274320" y="4023360"/>
            <a:ext cx="123444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Meiryo"/>
              </a:rPr>
              <a:t>担当別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536192" y="4225586"/>
            <a:ext cx="2880360" cy="2539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 i="0" dirty="0" err="1">
                <a:solidFill>
                  <a:srgbClr val="263238"/>
                </a:solidFill>
                <a:latin typeface="Meiryo"/>
              </a:rPr>
              <a:t>担当者別のリソース状況を全画面表示</a:t>
            </a:r>
            <a:endParaRPr sz="1050" b="0" i="0" dirty="0">
              <a:solidFill>
                <a:srgbClr val="263238"/>
              </a:solidFill>
              <a:latin typeface="Meiryo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4462272" y="4059936"/>
            <a:ext cx="4663440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 dirty="0" err="1">
                <a:solidFill>
                  <a:srgbClr val="263238"/>
                </a:solidFill>
                <a:latin typeface="Meiryo"/>
              </a:rPr>
              <a:t>各担当者のタスクをタイムラインで一覧表示</a:t>
            </a:r>
            <a:endParaRPr sz="1000" b="0" i="0" dirty="0">
              <a:solidFill>
                <a:srgbClr val="263238"/>
              </a:solidFill>
              <a:latin typeface="Meiryo"/>
            </a:endParaRPr>
          </a:p>
        </p:txBody>
      </p:sp>
      <p:sp>
        <p:nvSpPr>
          <p:cNvPr id="44" name="Rectangle 43"/>
          <p:cNvSpPr/>
          <p:nvPr/>
        </p:nvSpPr>
        <p:spPr>
          <a:xfrm>
            <a:off x="1490472" y="4023360"/>
            <a:ext cx="18288" cy="658368"/>
          </a:xfrm>
          <a:prstGeom prst="rect">
            <a:avLst/>
          </a:prstGeom>
          <a:solidFill>
            <a:srgbClr val="CF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4416552" y="4023360"/>
            <a:ext cx="18288" cy="658368"/>
          </a:xfrm>
          <a:prstGeom prst="rect">
            <a:avLst/>
          </a:prstGeom>
          <a:solidFill>
            <a:srgbClr val="CF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546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0"/>
            <a:ext cx="85039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Meiryo"/>
              </a:rPr>
              <a:t>タスクの追加・編集・削除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546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0" y="4773168"/>
            <a:ext cx="1600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90A4AE"/>
                </a:solidFill>
                <a:latin typeface="Meiryo"/>
              </a:rPr>
              <a:t>4 / 9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749808"/>
            <a:ext cx="416052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CF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28600" y="749808"/>
            <a:ext cx="4160520" cy="292608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38328" y="749808"/>
            <a:ext cx="3941063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Meiryo"/>
              </a:rPr>
              <a:t>タスクの追加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" y="1097280"/>
            <a:ext cx="3941063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050" b="1" i="0">
                <a:solidFill>
                  <a:srgbClr val="43A047"/>
                </a:solidFill>
                <a:latin typeface="Meiryo"/>
              </a:rPr>
              <a:t>① </a:t>
            </a:r>
            <a:r>
              <a:rPr sz="1050" b="0" i="0">
                <a:solidFill>
                  <a:srgbClr val="263238"/>
                </a:solidFill>
                <a:latin typeface="Meiryo"/>
              </a:rPr>
              <a:t>右上「＋ 新規タスク追加」ボタンをクリック</a:t>
            </a:r>
          </a:p>
          <a:p>
            <a:pPr algn="l">
              <a:spcAft>
                <a:spcPts val="100"/>
              </a:spcAft>
            </a:pPr>
            <a:r>
              <a:rPr sz="1050" b="1" i="0">
                <a:solidFill>
                  <a:srgbClr val="43A047"/>
                </a:solidFill>
                <a:latin typeface="Meiryo"/>
              </a:rPr>
              <a:t>② </a:t>
            </a:r>
            <a:r>
              <a:rPr sz="1050" b="0" i="0">
                <a:solidFill>
                  <a:srgbClr val="263238"/>
                </a:solidFill>
                <a:latin typeface="Meiryo"/>
              </a:rPr>
              <a:t>グリッド右端の「＋」ボタンをクリック（どちらでも可）</a:t>
            </a:r>
          </a:p>
          <a:p>
            <a:pPr algn="l">
              <a:spcAft>
                <a:spcPts val="100"/>
              </a:spcAft>
            </a:pPr>
            <a:r>
              <a:rPr sz="1050" b="1" i="0">
                <a:solidFill>
                  <a:srgbClr val="43A047"/>
                </a:solidFill>
                <a:latin typeface="Meiryo"/>
              </a:rPr>
              <a:t>③ </a:t>
            </a:r>
            <a:r>
              <a:rPr sz="1050" b="0" i="0">
                <a:solidFill>
                  <a:srgbClr val="263238"/>
                </a:solidFill>
                <a:latin typeface="Meiryo"/>
              </a:rPr>
              <a:t>タスク名が自動で編集状態 → 入力してEnterで確定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8600" y="1847088"/>
            <a:ext cx="416052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CF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28600" y="1847088"/>
            <a:ext cx="4160520" cy="292608"/>
          </a:xfrm>
          <a:prstGeom prst="rect">
            <a:avLst/>
          </a:prstGeom>
          <a:solidFill>
            <a:srgbClr val="546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38328" y="1847088"/>
            <a:ext cx="3941063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Meiryo"/>
              </a:rPr>
              <a:t>タスクの編集（インライン編集）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" y="2194560"/>
            <a:ext cx="3941063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050" b="0" i="0">
                <a:solidFill>
                  <a:srgbClr val="263238"/>
                </a:solidFill>
                <a:latin typeface="Meiryo"/>
              </a:rPr>
              <a:t>各列のセルをクリックすると直接編集できます</a:t>
            </a:r>
          </a:p>
          <a:p>
            <a:pPr algn="l">
              <a:spcAft>
                <a:spcPts val="100"/>
              </a:spcAft>
            </a:pPr>
            <a:r>
              <a:rPr sz="1050" b="1" i="0">
                <a:solidFill>
                  <a:srgbClr val="263238"/>
                </a:solidFill>
                <a:latin typeface="Meiryo"/>
              </a:rPr>
              <a:t>担当者列</a:t>
            </a:r>
            <a:r>
              <a:rPr sz="1050" b="0" i="0">
                <a:solidFill>
                  <a:srgbClr val="263238"/>
                </a:solidFill>
                <a:latin typeface="Meiryo"/>
              </a:rPr>
              <a:t>：プルダウンで選択</a:t>
            </a:r>
          </a:p>
          <a:p>
            <a:pPr algn="l">
              <a:spcAft>
                <a:spcPts val="100"/>
              </a:spcAft>
            </a:pPr>
            <a:r>
              <a:rPr sz="1050" b="1" i="0">
                <a:solidFill>
                  <a:srgbClr val="263238"/>
                </a:solidFill>
                <a:latin typeface="Meiryo"/>
              </a:rPr>
              <a:t>完了予定日列</a:t>
            </a:r>
            <a:r>
              <a:rPr sz="1050" b="0" i="0">
                <a:solidFill>
                  <a:srgbClr val="263238"/>
                </a:solidFill>
                <a:latin typeface="Meiryo"/>
              </a:rPr>
              <a:t>：日付ピッカーで選択（Enter / セル外クリックで確定）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8600" y="2944368"/>
            <a:ext cx="416052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CF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228600" y="2944368"/>
            <a:ext cx="4160520" cy="292608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38328" y="2944368"/>
            <a:ext cx="3941063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Meiryo"/>
              </a:rPr>
              <a:t>タスクの編集（詳細ダイアログ）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8328" y="3291840"/>
            <a:ext cx="3941063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050" b="1" i="0">
                <a:solidFill>
                  <a:srgbClr val="263238"/>
                </a:solidFill>
                <a:latin typeface="Meiryo"/>
              </a:rPr>
              <a:t>タイムライン上のバーをダブルクリック</a:t>
            </a:r>
            <a:r>
              <a:rPr sz="1050" b="0" i="0">
                <a:solidFill>
                  <a:srgbClr val="263238"/>
                </a:solidFill>
                <a:latin typeface="Meiryo"/>
              </a:rPr>
              <a:t> → 詳細ダイアログが開きます</a:t>
            </a:r>
          </a:p>
          <a:p>
            <a:pPr algn="l">
              <a:spcAft>
                <a:spcPts val="100"/>
              </a:spcAft>
            </a:pPr>
            <a:r>
              <a:rPr sz="1050" b="0" i="0">
                <a:solidFill>
                  <a:srgbClr val="263238"/>
                </a:solidFill>
                <a:latin typeface="Meiryo"/>
              </a:rPr>
              <a:t>工事番号・機械・ユニット・担当・出図希望日などをまとめて編集できます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754880" y="749808"/>
            <a:ext cx="416052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CF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754880" y="749808"/>
            <a:ext cx="4160520" cy="292608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864608" y="749808"/>
            <a:ext cx="3941063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Meiryo"/>
              </a:rPr>
              <a:t>タスクの削除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64608" y="1097280"/>
            <a:ext cx="3941063" cy="60272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050" b="0" i="0" dirty="0" err="1">
                <a:solidFill>
                  <a:srgbClr val="263238"/>
                </a:solidFill>
                <a:latin typeface="Meiryo"/>
              </a:rPr>
              <a:t>タスク行をクリックして選択（青くハイライト</a:t>
            </a:r>
            <a:r>
              <a:rPr sz="1050" b="0" i="0" dirty="0">
                <a:solidFill>
                  <a:srgbClr val="263238"/>
                </a:solidFill>
                <a:latin typeface="Meiryo"/>
              </a:rPr>
              <a:t>）</a:t>
            </a:r>
          </a:p>
          <a:p>
            <a:pPr algn="l">
              <a:spcAft>
                <a:spcPts val="100"/>
              </a:spcAft>
            </a:pPr>
            <a:r>
              <a:rPr lang="ja-JP" altLang="en-US" sz="1050" i="0" dirty="0">
                <a:solidFill>
                  <a:srgbClr val="263238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右クリック</a:t>
            </a:r>
            <a:r>
              <a:rPr sz="1050" b="1" i="0" dirty="0">
                <a:solidFill>
                  <a:srgbClr val="263238"/>
                </a:solidFill>
                <a:latin typeface="Meiryo"/>
              </a:rPr>
              <a:t>「</a:t>
            </a:r>
            <a:r>
              <a:rPr lang="ja-JP" altLang="en-US" sz="1050" b="1" dirty="0">
                <a:solidFill>
                  <a:srgbClr val="263238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このタスクを削除</a:t>
            </a:r>
            <a:r>
              <a:rPr sz="1050" b="1" i="0" dirty="0">
                <a:solidFill>
                  <a:srgbClr val="263238"/>
                </a:solidFill>
                <a:latin typeface="Meiryo"/>
              </a:rPr>
              <a:t>」</a:t>
            </a:r>
            <a:r>
              <a:rPr sz="1050" b="0" i="0" dirty="0" err="1">
                <a:solidFill>
                  <a:srgbClr val="263238"/>
                </a:solidFill>
                <a:latin typeface="Meiryo"/>
              </a:rPr>
              <a:t>ボタンをクリックして削除</a:t>
            </a:r>
            <a:endParaRPr sz="1050" b="0" i="0" dirty="0">
              <a:solidFill>
                <a:srgbClr val="263238"/>
              </a:solidFill>
              <a:latin typeface="Meiryo"/>
            </a:endParaRPr>
          </a:p>
          <a:p>
            <a:pPr algn="l">
              <a:spcAft>
                <a:spcPts val="100"/>
              </a:spcAft>
            </a:pPr>
            <a:r>
              <a:rPr sz="1050" b="1" i="0" dirty="0">
                <a:solidFill>
                  <a:srgbClr val="263238"/>
                </a:solidFill>
                <a:latin typeface="Meiryo"/>
              </a:rPr>
              <a:t>Ctrl + </a:t>
            </a:r>
            <a:r>
              <a:rPr sz="1050" b="1" i="0" dirty="0" err="1">
                <a:solidFill>
                  <a:srgbClr val="263238"/>
                </a:solidFill>
                <a:latin typeface="Meiryo"/>
              </a:rPr>
              <a:t>クリック</a:t>
            </a:r>
            <a:r>
              <a:rPr sz="1050" b="0" i="0" dirty="0" err="1">
                <a:solidFill>
                  <a:srgbClr val="263238"/>
                </a:solidFill>
                <a:latin typeface="Meiryo"/>
              </a:rPr>
              <a:t>で複数行選択</a:t>
            </a:r>
            <a:r>
              <a:rPr sz="1050" b="0" i="0" dirty="0">
                <a:solidFill>
                  <a:srgbClr val="263238"/>
                </a:solidFill>
                <a:latin typeface="Meiryo"/>
              </a:rPr>
              <a:t> → </a:t>
            </a:r>
            <a:r>
              <a:rPr sz="1050" b="0" i="0" dirty="0" err="1">
                <a:solidFill>
                  <a:srgbClr val="263238"/>
                </a:solidFill>
                <a:latin typeface="Meiryo"/>
              </a:rPr>
              <a:t>まとめて削除可能</a:t>
            </a:r>
            <a:endParaRPr sz="1050" b="0" i="0" dirty="0">
              <a:solidFill>
                <a:srgbClr val="263238"/>
              </a:solidFill>
              <a:latin typeface="Meiryo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4754880" y="1847088"/>
            <a:ext cx="416052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CF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754880" y="1847088"/>
            <a:ext cx="4160520" cy="292608"/>
          </a:xfrm>
          <a:prstGeom prst="rect">
            <a:avLst/>
          </a:prstGeom>
          <a:solidFill>
            <a:srgbClr val="FB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864608" y="1847088"/>
            <a:ext cx="3941063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Meiryo"/>
              </a:rPr>
              <a:t>右クリックメニュー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64608" y="2194560"/>
            <a:ext cx="3941063" cy="143372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050" b="1" i="0" dirty="0" err="1">
                <a:solidFill>
                  <a:srgbClr val="263238"/>
                </a:solidFill>
                <a:latin typeface="Meiryo"/>
              </a:rPr>
              <a:t>タスク行を右クリック</a:t>
            </a:r>
            <a:r>
              <a:rPr sz="1050" b="1" i="0" dirty="0">
                <a:solidFill>
                  <a:srgbClr val="263238"/>
                </a:solidFill>
                <a:latin typeface="Meiryo"/>
              </a:rPr>
              <a:t> → </a:t>
            </a:r>
            <a:r>
              <a:rPr sz="1050" b="1" i="0" dirty="0" err="1">
                <a:solidFill>
                  <a:srgbClr val="263238"/>
                </a:solidFill>
                <a:latin typeface="Meiryo"/>
              </a:rPr>
              <a:t>メニューが表示されます</a:t>
            </a:r>
            <a:br>
              <a:rPr lang="ja-JP" sz="1050" dirty="0"/>
            </a:br>
            <a:endParaRPr lang="ja-JP" sz="1050" dirty="0"/>
          </a:p>
          <a:p>
            <a:pPr algn="l">
              <a:spcAft>
                <a:spcPts val="100"/>
              </a:spcAft>
            </a:pPr>
            <a:r>
              <a:rPr sz="1050" b="1" i="0" dirty="0" err="1">
                <a:solidFill>
                  <a:srgbClr val="1565C0"/>
                </a:solidFill>
                <a:latin typeface="Meiryo"/>
              </a:rPr>
              <a:t>コピ</a:t>
            </a:r>
            <a:r>
              <a:rPr sz="1050" b="1" i="0" dirty="0">
                <a:solidFill>
                  <a:srgbClr val="1565C0"/>
                </a:solidFill>
                <a:latin typeface="Meiryo"/>
              </a:rPr>
              <a:t>ー</a:t>
            </a:r>
            <a:r>
              <a:rPr sz="1050" b="0" i="0" dirty="0">
                <a:solidFill>
                  <a:srgbClr val="263238"/>
                </a:solidFill>
                <a:latin typeface="Meiryo"/>
              </a:rPr>
              <a:t>　：選択行を1件コピー</a:t>
            </a:r>
          </a:p>
          <a:p>
            <a:pPr algn="l">
              <a:spcAft>
                <a:spcPts val="100"/>
              </a:spcAft>
            </a:pPr>
            <a:r>
              <a:rPr sz="1050" b="1" i="0" dirty="0" err="1">
                <a:solidFill>
                  <a:srgbClr val="1565C0"/>
                </a:solidFill>
                <a:latin typeface="Meiryo"/>
              </a:rPr>
              <a:t>複数コピ</a:t>
            </a:r>
            <a:r>
              <a:rPr sz="1050" b="1" i="0" dirty="0">
                <a:solidFill>
                  <a:srgbClr val="1565C0"/>
                </a:solidFill>
                <a:latin typeface="Meiryo"/>
              </a:rPr>
              <a:t>ー</a:t>
            </a:r>
            <a:r>
              <a:rPr sz="1050" b="0" i="0" dirty="0">
                <a:solidFill>
                  <a:srgbClr val="263238"/>
                </a:solidFill>
                <a:latin typeface="Meiryo"/>
              </a:rPr>
              <a:t>　：</a:t>
            </a:r>
            <a:r>
              <a:rPr sz="1050" b="0" i="0" dirty="0" err="1">
                <a:solidFill>
                  <a:srgbClr val="263238"/>
                </a:solidFill>
                <a:latin typeface="Meiryo"/>
              </a:rPr>
              <a:t>選択複数行をまとめてコピ</a:t>
            </a:r>
            <a:r>
              <a:rPr sz="1050" b="0" i="0" dirty="0">
                <a:solidFill>
                  <a:srgbClr val="263238"/>
                </a:solidFill>
                <a:latin typeface="Meiryo"/>
              </a:rPr>
              <a:t>ー</a:t>
            </a:r>
          </a:p>
          <a:p>
            <a:pPr algn="l">
              <a:spcAft>
                <a:spcPts val="100"/>
              </a:spcAft>
            </a:pPr>
            <a:r>
              <a:rPr sz="1050" b="1" i="0" dirty="0" err="1">
                <a:solidFill>
                  <a:srgbClr val="2E7D32"/>
                </a:solidFill>
                <a:latin typeface="Meiryo"/>
              </a:rPr>
              <a:t>貼り付け</a:t>
            </a:r>
            <a:r>
              <a:rPr sz="1050" b="0" i="0" dirty="0">
                <a:solidFill>
                  <a:srgbClr val="263238"/>
                </a:solidFill>
                <a:latin typeface="Meiryo"/>
              </a:rPr>
              <a:t>　：</a:t>
            </a:r>
            <a:r>
              <a:rPr sz="1050" b="0" i="0" dirty="0" err="1">
                <a:solidFill>
                  <a:srgbClr val="263238"/>
                </a:solidFill>
                <a:latin typeface="Meiryo"/>
              </a:rPr>
              <a:t>コピーしたタスクを貼り付け</a:t>
            </a:r>
            <a:endParaRPr sz="1050" b="0" i="0" dirty="0">
              <a:solidFill>
                <a:srgbClr val="263238"/>
              </a:solidFill>
              <a:latin typeface="Meiryo"/>
            </a:endParaRPr>
          </a:p>
          <a:p>
            <a:pPr algn="l">
              <a:spcAft>
                <a:spcPts val="100"/>
              </a:spcAft>
            </a:pPr>
            <a:r>
              <a:rPr sz="1050" b="1" i="0" dirty="0" err="1">
                <a:solidFill>
                  <a:srgbClr val="C62828"/>
                </a:solidFill>
                <a:latin typeface="Meiryo"/>
              </a:rPr>
              <a:t>削除</a:t>
            </a:r>
            <a:r>
              <a:rPr sz="1050" b="0" i="0" dirty="0">
                <a:solidFill>
                  <a:srgbClr val="263238"/>
                </a:solidFill>
                <a:latin typeface="Meiryo"/>
              </a:rPr>
              <a:t>　　：</a:t>
            </a:r>
            <a:r>
              <a:rPr sz="1050" b="0" i="0" dirty="0" err="1">
                <a:solidFill>
                  <a:srgbClr val="263238"/>
                </a:solidFill>
                <a:latin typeface="Meiryo"/>
              </a:rPr>
              <a:t>選択行を削除</a:t>
            </a:r>
            <a:endParaRPr sz="1050" b="0" i="0" dirty="0">
              <a:solidFill>
                <a:srgbClr val="263238"/>
              </a:solidFill>
              <a:latin typeface="Meiryo"/>
            </a:endParaRPr>
          </a:p>
          <a:p>
            <a:pPr algn="l">
              <a:spcAft>
                <a:spcPts val="100"/>
              </a:spcAft>
            </a:pPr>
            <a:br>
              <a:rPr lang="ja-JP" sz="1000" dirty="0"/>
            </a:br>
            <a:r>
              <a:rPr sz="1000" b="0" i="1" dirty="0">
                <a:solidFill>
                  <a:schemeClr val="bg1">
                    <a:lumMod val="65000"/>
                  </a:schemeClr>
                </a:solidFill>
                <a:latin typeface="Meiryo"/>
              </a:rPr>
              <a:t>※ </a:t>
            </a:r>
            <a:r>
              <a:rPr sz="1000" b="0" i="1" dirty="0" err="1">
                <a:solidFill>
                  <a:schemeClr val="bg1">
                    <a:lumMod val="65000"/>
                  </a:schemeClr>
                </a:solidFill>
                <a:latin typeface="Meiryo"/>
              </a:rPr>
              <a:t>コピー時は「コピーする項目選択」ダイアログが表示されます</a:t>
            </a:r>
            <a:endParaRPr sz="1000" b="0" i="1" dirty="0">
              <a:solidFill>
                <a:schemeClr val="bg1">
                  <a:lumMod val="65000"/>
                </a:schemeClr>
              </a:solidFill>
              <a:latin typeface="Meiry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546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0"/>
            <a:ext cx="85039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Meiryo"/>
              </a:rPr>
              <a:t>ガントバーの操作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546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0" y="4773168"/>
            <a:ext cx="1600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90A4AE"/>
                </a:solidFill>
                <a:latin typeface="Meiryo"/>
              </a:rPr>
              <a:t>5 / 9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749808"/>
            <a:ext cx="4160520" cy="1810512"/>
          </a:xfrm>
          <a:prstGeom prst="rect">
            <a:avLst/>
          </a:prstGeom>
          <a:solidFill>
            <a:srgbClr val="FFFFFF"/>
          </a:solidFill>
          <a:ln w="9525">
            <a:solidFill>
              <a:srgbClr val="CF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28600" y="749808"/>
            <a:ext cx="4160520" cy="292608"/>
          </a:xfrm>
          <a:prstGeom prst="rect">
            <a:avLst/>
          </a:prstGeom>
          <a:solidFill>
            <a:srgbClr val="546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38328" y="749808"/>
            <a:ext cx="3941063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Meiryo"/>
              </a:rPr>
              <a:t>バーのドラッグ移動（位置変更）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" y="1097280"/>
            <a:ext cx="3941063" cy="144475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263238"/>
                </a:solidFill>
                <a:latin typeface="Meiryo"/>
              </a:rPr>
              <a:t>タイムライン上のバーを</a:t>
            </a:r>
            <a:r>
              <a:rPr sz="1100" b="1" i="0">
                <a:solidFill>
                  <a:srgbClr val="263238"/>
                </a:solidFill>
                <a:latin typeface="Meiryo"/>
              </a:rPr>
              <a:t>左右にドラッグ</a:t>
            </a:r>
            <a:r>
              <a:rPr sz="1100" b="0" i="0">
                <a:solidFill>
                  <a:srgbClr val="263238"/>
                </a:solidFill>
                <a:latin typeface="Meiryo"/>
              </a:rPr>
              <a:t>すると</a:t>
            </a:r>
            <a:br>
              <a:rPr lang="ja-JP" sz="1100"/>
            </a:br>
            <a:r>
              <a:rPr sz="1100" b="0" i="0">
                <a:solidFill>
                  <a:srgbClr val="263238"/>
                </a:solidFill>
                <a:latin typeface="Meiryo"/>
              </a:rPr>
              <a:t>開始日・完了日をまとめて変更できます</a:t>
            </a:r>
          </a:p>
          <a:p>
            <a:pPr algn="l">
              <a:spcAft>
                <a:spcPts val="300"/>
              </a:spcAft>
            </a:pPr>
            <a:br>
              <a:rPr lang="ja-JP" sz="1000"/>
            </a:br>
            <a:r>
              <a:rPr sz="1000" b="0" i="1">
                <a:solidFill>
                  <a:srgbClr val="90A4AE"/>
                </a:solidFill>
                <a:latin typeface="Meiryo"/>
              </a:rPr>
              <a:t>ドラッグ後、自動的にDB（Supabase）に保存されます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54880" y="749808"/>
            <a:ext cx="4160520" cy="1810512"/>
          </a:xfrm>
          <a:prstGeom prst="rect">
            <a:avLst/>
          </a:prstGeom>
          <a:solidFill>
            <a:srgbClr val="FFFFFF"/>
          </a:solidFill>
          <a:ln w="9525">
            <a:solidFill>
              <a:srgbClr val="CF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754880" y="749808"/>
            <a:ext cx="4160520" cy="292608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864608" y="749808"/>
            <a:ext cx="3941063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Meiryo"/>
              </a:rPr>
              <a:t>バーのリサイズ（右端ドラッグ）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64608" y="1097280"/>
            <a:ext cx="3941063" cy="144475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263238"/>
                </a:solidFill>
                <a:latin typeface="Meiryo"/>
              </a:rPr>
              <a:t>バーの</a:t>
            </a:r>
            <a:r>
              <a:rPr sz="1100" b="1" i="0">
                <a:solidFill>
                  <a:srgbClr val="263238"/>
                </a:solidFill>
                <a:latin typeface="Meiryo"/>
              </a:rPr>
              <a:t>右端をドラッグ</a:t>
            </a:r>
            <a:r>
              <a:rPr sz="1100" b="0" i="0">
                <a:solidFill>
                  <a:srgbClr val="263238"/>
                </a:solidFill>
                <a:latin typeface="Meiryo"/>
              </a:rPr>
              <a:t>すると</a:t>
            </a:r>
            <a:br>
              <a:rPr lang="ja-JP" sz="1100"/>
            </a:br>
            <a:r>
              <a:rPr sz="1100" b="0" i="0">
                <a:solidFill>
                  <a:srgbClr val="263238"/>
                </a:solidFill>
                <a:latin typeface="Meiryo"/>
              </a:rPr>
              <a:t>完了予定日のみを変更できます</a:t>
            </a:r>
          </a:p>
          <a:p>
            <a:pPr algn="l">
              <a:spcAft>
                <a:spcPts val="300"/>
              </a:spcAft>
            </a:pPr>
            <a:br>
              <a:rPr lang="ja-JP" sz="1000"/>
            </a:br>
            <a:r>
              <a:rPr sz="1000" b="0" i="1">
                <a:solidFill>
                  <a:srgbClr val="90A4AE"/>
                </a:solidFill>
                <a:latin typeface="Meiryo"/>
              </a:rPr>
              <a:t>開始日は変わらず、期間のみが変化します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8600" y="2715768"/>
            <a:ext cx="4160520" cy="1810512"/>
          </a:xfrm>
          <a:prstGeom prst="rect">
            <a:avLst/>
          </a:prstGeom>
          <a:solidFill>
            <a:srgbClr val="FFFFFF"/>
          </a:solidFill>
          <a:ln w="9525">
            <a:solidFill>
              <a:srgbClr val="CF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228600" y="2715768"/>
            <a:ext cx="4160520" cy="292608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38328" y="2715768"/>
            <a:ext cx="3941063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Meiryo"/>
              </a:rPr>
              <a:t>出図希望日（▼マーク）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8328" y="3362421"/>
            <a:ext cx="3941063" cy="84638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 i="0" dirty="0" err="1">
                <a:solidFill>
                  <a:srgbClr val="263238"/>
                </a:solidFill>
                <a:latin typeface="Meiryo"/>
              </a:rPr>
              <a:t>図面タスクのバー上に</a:t>
            </a:r>
            <a:r>
              <a:rPr sz="1100" b="1" i="0" dirty="0" err="1">
                <a:solidFill>
                  <a:srgbClr val="263238"/>
                </a:solidFill>
                <a:latin typeface="Meiryo"/>
              </a:rPr>
              <a:t>黒い</a:t>
            </a:r>
            <a:r>
              <a:rPr sz="1100" b="1" i="0" dirty="0">
                <a:solidFill>
                  <a:srgbClr val="263238"/>
                </a:solidFill>
                <a:latin typeface="Meiryo"/>
              </a:rPr>
              <a:t>「▼」</a:t>
            </a:r>
            <a:r>
              <a:rPr sz="1100" b="1" i="0" dirty="0" err="1">
                <a:solidFill>
                  <a:srgbClr val="263238"/>
                </a:solidFill>
                <a:latin typeface="Meiryo"/>
              </a:rPr>
              <a:t>マーク</a:t>
            </a:r>
            <a:r>
              <a:rPr sz="1100" b="0" i="0" dirty="0" err="1">
                <a:solidFill>
                  <a:srgbClr val="263238"/>
                </a:solidFill>
                <a:latin typeface="Meiryo"/>
              </a:rPr>
              <a:t>が表示されます</a:t>
            </a:r>
            <a:endParaRPr sz="1100" b="0" i="0" dirty="0">
              <a:solidFill>
                <a:srgbClr val="263238"/>
              </a:solidFill>
              <a:latin typeface="Meiryo"/>
            </a:endParaRPr>
          </a:p>
          <a:p>
            <a:pPr algn="l">
              <a:spcAft>
                <a:spcPts val="200"/>
              </a:spcAft>
            </a:pPr>
            <a:r>
              <a:rPr sz="1100" b="0" i="0" dirty="0">
                <a:solidFill>
                  <a:srgbClr val="263238"/>
                </a:solidFill>
                <a:latin typeface="Meiryo"/>
              </a:rPr>
              <a:t>▼</a:t>
            </a:r>
            <a:r>
              <a:rPr sz="1100" b="0" i="0" dirty="0" err="1">
                <a:solidFill>
                  <a:srgbClr val="263238"/>
                </a:solidFill>
                <a:latin typeface="Meiryo"/>
              </a:rPr>
              <a:t>マークもドラッグして出図希望日を変更できます</a:t>
            </a:r>
            <a:endParaRPr sz="1100" b="0" i="0" dirty="0">
              <a:solidFill>
                <a:srgbClr val="263238"/>
              </a:solidFill>
              <a:latin typeface="Meiryo"/>
            </a:endParaRPr>
          </a:p>
          <a:p>
            <a:pPr algn="l">
              <a:spcAft>
                <a:spcPts val="200"/>
              </a:spcAft>
            </a:pPr>
            <a:r>
              <a:rPr sz="1100" b="1" i="0" dirty="0">
                <a:solidFill>
                  <a:srgbClr val="263238"/>
                </a:solidFill>
                <a:latin typeface="Meiryo"/>
              </a:rPr>
              <a:t>▼</a:t>
            </a:r>
            <a:r>
              <a:rPr sz="1100" b="1" i="0" dirty="0" err="1">
                <a:solidFill>
                  <a:srgbClr val="263238"/>
                </a:solidFill>
                <a:latin typeface="Meiryo"/>
              </a:rPr>
              <a:t>の色：黒</a:t>
            </a:r>
            <a:r>
              <a:rPr sz="1100" b="0" i="0" dirty="0">
                <a:solidFill>
                  <a:srgbClr val="263238"/>
                </a:solidFill>
                <a:latin typeface="Meiryo"/>
              </a:rPr>
              <a:t> ＝ </a:t>
            </a:r>
            <a:r>
              <a:rPr sz="1100" b="0" i="0" dirty="0" err="1">
                <a:solidFill>
                  <a:srgbClr val="263238"/>
                </a:solidFill>
                <a:latin typeface="Meiryo"/>
              </a:rPr>
              <a:t>余裕あり</a:t>
            </a:r>
            <a:r>
              <a:rPr sz="1100" b="0" i="0" dirty="0">
                <a:solidFill>
                  <a:srgbClr val="263238"/>
                </a:solidFill>
                <a:latin typeface="Meiryo"/>
              </a:rPr>
              <a:t>　</a:t>
            </a:r>
            <a:r>
              <a:rPr sz="1100" b="1" i="0" dirty="0">
                <a:solidFill>
                  <a:srgbClr val="E53935"/>
                </a:solidFill>
                <a:latin typeface="Meiryo"/>
              </a:rPr>
              <a:t>赤</a:t>
            </a:r>
            <a:r>
              <a:rPr sz="1100" b="0" i="0" dirty="0">
                <a:solidFill>
                  <a:srgbClr val="263238"/>
                </a:solidFill>
                <a:latin typeface="Meiryo"/>
              </a:rPr>
              <a:t> ＝ </a:t>
            </a:r>
            <a:r>
              <a:rPr sz="1100" b="0" i="0" dirty="0" err="1">
                <a:solidFill>
                  <a:srgbClr val="263238"/>
                </a:solidFill>
                <a:latin typeface="Meiryo"/>
              </a:rPr>
              <a:t>出図希望日超過（遅延</a:t>
            </a:r>
            <a:r>
              <a:rPr sz="1100" b="0" i="0" dirty="0">
                <a:solidFill>
                  <a:srgbClr val="263238"/>
                </a:solidFill>
                <a:latin typeface="Meiryo"/>
              </a:rPr>
              <a:t>）</a:t>
            </a:r>
            <a:endParaRPr lang="en-US" sz="1100" b="0" i="0" dirty="0">
              <a:solidFill>
                <a:srgbClr val="263238"/>
              </a:solidFill>
              <a:latin typeface="Meiryo"/>
            </a:endParaRPr>
          </a:p>
          <a:p>
            <a:pPr algn="l">
              <a:spcAft>
                <a:spcPts val="200"/>
              </a:spcAft>
            </a:pPr>
            <a:r>
              <a:rPr lang="en-US" altLang="ja-JP" sz="1100" b="0" i="0" dirty="0">
                <a:solidFill>
                  <a:schemeClr val="bg1">
                    <a:lumMod val="6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※</a:t>
            </a:r>
            <a:r>
              <a:rPr lang="ja-JP" altLang="en-US" sz="1100" b="0" i="0" dirty="0">
                <a:solidFill>
                  <a:schemeClr val="bg1">
                    <a:lumMod val="6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製造管理部が変更</a:t>
            </a:r>
            <a:endParaRPr sz="1100" b="0" i="0" dirty="0">
              <a:solidFill>
                <a:schemeClr val="bg1">
                  <a:lumMod val="6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4754880" y="2715768"/>
            <a:ext cx="4160520" cy="1810512"/>
          </a:xfrm>
          <a:prstGeom prst="rect">
            <a:avLst/>
          </a:prstGeom>
          <a:solidFill>
            <a:srgbClr val="FFFFFF"/>
          </a:solidFill>
          <a:ln w="9525">
            <a:solidFill>
              <a:srgbClr val="CF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754880" y="2715768"/>
            <a:ext cx="4160520" cy="292608"/>
          </a:xfrm>
          <a:prstGeom prst="rect">
            <a:avLst/>
          </a:prstGeom>
          <a:solidFill>
            <a:srgbClr val="374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864608" y="2715768"/>
            <a:ext cx="3941063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Meiryo"/>
              </a:rPr>
              <a:t>表示単位の切り替え（日単位 / 週単位）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64608" y="3193145"/>
            <a:ext cx="3941063" cy="11849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lang="ja-JP" altLang="en-US" sz="1100" b="0" dirty="0">
                <a:solidFill>
                  <a:srgbClr val="263238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　</a:t>
            </a:r>
            <a:r>
              <a:rPr lang="ja-JP" altLang="en-US" sz="1100" b="1" dirty="0">
                <a:solidFill>
                  <a:srgbClr val="263238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日単位</a:t>
            </a:r>
            <a:r>
              <a:rPr sz="1100" b="0" i="0" dirty="0">
                <a:solidFill>
                  <a:srgbClr val="263238"/>
                </a:solidFill>
                <a:latin typeface="Meiryo"/>
              </a:rPr>
              <a:t>（</a:t>
            </a:r>
            <a:r>
              <a:rPr sz="1100" b="0" i="0" dirty="0" err="1">
                <a:solidFill>
                  <a:srgbClr val="263238"/>
                </a:solidFill>
                <a:latin typeface="Meiryo"/>
              </a:rPr>
              <a:t>デフォルト</a:t>
            </a:r>
            <a:r>
              <a:rPr sz="1100" b="0" i="0" dirty="0">
                <a:solidFill>
                  <a:srgbClr val="263238"/>
                </a:solidFill>
                <a:latin typeface="Meiryo"/>
              </a:rPr>
              <a:t>）</a:t>
            </a:r>
            <a:br>
              <a:rPr lang="ja-JP" sz="1100" dirty="0"/>
            </a:br>
            <a:r>
              <a:rPr sz="1100" b="0" i="0" dirty="0">
                <a:solidFill>
                  <a:srgbClr val="263238"/>
                </a:solidFill>
                <a:latin typeface="Meiryo"/>
              </a:rPr>
              <a:t>　日付を1日単位で細かく表示</a:t>
            </a:r>
            <a:endParaRPr lang="en-US" sz="1100" b="0" i="0" dirty="0">
              <a:solidFill>
                <a:srgbClr val="263238"/>
              </a:solidFill>
              <a:latin typeface="Meiryo"/>
            </a:endParaRPr>
          </a:p>
          <a:p>
            <a:pPr algn="l">
              <a:spcAft>
                <a:spcPts val="300"/>
              </a:spcAft>
            </a:pPr>
            <a:endParaRPr sz="1100" b="0" i="0" dirty="0">
              <a:solidFill>
                <a:srgbClr val="263238"/>
              </a:solidFill>
              <a:latin typeface="Meiryo"/>
            </a:endParaRPr>
          </a:p>
          <a:p>
            <a:pPr algn="l">
              <a:spcAft>
                <a:spcPts val="300"/>
              </a:spcAft>
            </a:pPr>
            <a:r>
              <a:rPr sz="1100" b="1" i="0" dirty="0">
                <a:solidFill>
                  <a:srgbClr val="FFFFFF"/>
                </a:solidFill>
                <a:latin typeface="Meiryo"/>
              </a:rPr>
              <a:t>「</a:t>
            </a:r>
            <a:r>
              <a:rPr sz="1100" b="1" i="0" dirty="0" err="1">
                <a:latin typeface="Meiryo"/>
              </a:rPr>
              <a:t>週単位</a:t>
            </a:r>
            <a:r>
              <a:rPr sz="1100" b="1" i="0" dirty="0">
                <a:solidFill>
                  <a:srgbClr val="FFFFFF"/>
                </a:solidFill>
                <a:latin typeface="Meiryo"/>
              </a:rPr>
              <a:t>」</a:t>
            </a:r>
            <a:br>
              <a:rPr lang="ja-JP" sz="1100" dirty="0"/>
            </a:br>
            <a:r>
              <a:rPr sz="1100" b="0" i="0" dirty="0">
                <a:solidFill>
                  <a:srgbClr val="263238"/>
                </a:solidFill>
                <a:latin typeface="Meiryo"/>
              </a:rPr>
              <a:t>　</a:t>
            </a:r>
            <a:r>
              <a:rPr sz="1100" b="0" i="0" dirty="0" err="1">
                <a:solidFill>
                  <a:srgbClr val="263238"/>
                </a:solidFill>
                <a:latin typeface="Meiryo"/>
              </a:rPr>
              <a:t>週単位でまとめて表示</a:t>
            </a:r>
            <a:br>
              <a:rPr lang="ja-JP" sz="1100" dirty="0"/>
            </a:br>
            <a:r>
              <a:rPr sz="1100" b="0" i="0" dirty="0">
                <a:solidFill>
                  <a:srgbClr val="263238"/>
                </a:solidFill>
                <a:latin typeface="Meiryo"/>
              </a:rPr>
              <a:t>　</a:t>
            </a:r>
            <a:r>
              <a:rPr sz="1100" b="0" i="0" dirty="0" err="1">
                <a:solidFill>
                  <a:srgbClr val="263238"/>
                </a:solidFill>
                <a:latin typeface="Meiryo"/>
              </a:rPr>
              <a:t>全体スケジュールの把握に便利</a:t>
            </a:r>
            <a:endParaRPr sz="1100" b="0" i="0" dirty="0">
              <a:solidFill>
                <a:srgbClr val="263238"/>
              </a:solidFill>
              <a:latin typeface="Meiry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546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0"/>
            <a:ext cx="85039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Meiryo"/>
              </a:rPr>
              <a:t>絞り込み（フィルタリング）機能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546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0" y="4773168"/>
            <a:ext cx="1600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90A4AE"/>
                </a:solidFill>
                <a:latin typeface="Meiryo"/>
              </a:rPr>
              <a:t>6 / 9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749808"/>
            <a:ext cx="868680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CF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28600" y="749808"/>
            <a:ext cx="8686800" cy="292608"/>
          </a:xfrm>
          <a:prstGeom prst="rect">
            <a:avLst/>
          </a:prstGeom>
          <a:solidFill>
            <a:srgbClr val="546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38328" y="749808"/>
            <a:ext cx="8467344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Meiryo"/>
              </a:rPr>
              <a:t>工事番号フィルター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" y="1097280"/>
            <a:ext cx="8467344" cy="9143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 i="0">
                <a:solidFill>
                  <a:srgbClr val="263238"/>
                </a:solidFill>
                <a:latin typeface="Meiryo"/>
              </a:rPr>
              <a:t>上部「工事番号: 全表示」プルダウンをクリック</a:t>
            </a:r>
          </a:p>
          <a:p>
            <a:pPr algn="l">
              <a:spcAft>
                <a:spcPts val="200"/>
              </a:spcAft>
            </a:pPr>
            <a:r>
              <a:rPr sz="1150" b="1" i="0">
                <a:solidFill>
                  <a:srgbClr val="263238"/>
                </a:solidFill>
                <a:latin typeface="Meiryo"/>
              </a:rPr>
              <a:t>表示したい工事番号にチェック</a:t>
            </a:r>
            <a:r>
              <a:rPr sz="1150" b="0" i="0">
                <a:solidFill>
                  <a:srgbClr val="263238"/>
                </a:solidFill>
                <a:latin typeface="Meiryo"/>
              </a:rPr>
              <a:t>（複数選択可）、全表示に戻すには「全表示」にチェック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8600" y="2210120"/>
            <a:ext cx="8686800" cy="853921"/>
          </a:xfrm>
          <a:prstGeom prst="rect">
            <a:avLst/>
          </a:prstGeom>
          <a:solidFill>
            <a:srgbClr val="FFFFFF"/>
          </a:solidFill>
          <a:ln w="9525">
            <a:solidFill>
              <a:srgbClr val="CF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28600" y="2157984"/>
            <a:ext cx="8686800" cy="292608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38328" y="2157984"/>
            <a:ext cx="8467344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Meiryo"/>
              </a:rPr>
              <a:t>担当者フィルター（リソース表示時）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" y="2637080"/>
            <a:ext cx="8467344" cy="269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lang="ja-JP" altLang="en-US" sz="1150" b="1" i="0" dirty="0">
                <a:solidFill>
                  <a:srgbClr val="263238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特定の担当者のタスクだけを絞り込めます</a:t>
            </a:r>
            <a:r>
              <a:rPr lang="ja-JP" altLang="en-US" sz="1150" b="0" i="0" dirty="0">
                <a:solidFill>
                  <a:srgbClr val="263238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（複数選択可）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8600" y="3204972"/>
            <a:ext cx="8686800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CF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228600" y="3214116"/>
            <a:ext cx="8686800" cy="292608"/>
          </a:xfrm>
          <a:prstGeom prst="rect">
            <a:avLst/>
          </a:prstGeom>
          <a:solidFill>
            <a:srgbClr val="FB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28600" y="3239117"/>
            <a:ext cx="8467344" cy="2616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 i="0" dirty="0" err="1">
                <a:solidFill>
                  <a:srgbClr val="FFFFFF"/>
                </a:solidFill>
                <a:latin typeface="Meiryo"/>
              </a:rPr>
              <a:t>進捗の視覚的確認（進捗列</a:t>
            </a:r>
            <a:r>
              <a:rPr sz="1100" b="1" i="0" dirty="0">
                <a:solidFill>
                  <a:srgbClr val="FFFFFF"/>
                </a:solidFill>
                <a:latin typeface="Meiryo"/>
              </a:rPr>
              <a:t>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" y="3537044"/>
            <a:ext cx="8467344" cy="118871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 i="0" dirty="0" err="1">
                <a:solidFill>
                  <a:srgbClr val="263238"/>
                </a:solidFill>
                <a:latin typeface="Meiryo"/>
              </a:rPr>
              <a:t>進捗率</a:t>
            </a:r>
            <a:r>
              <a:rPr sz="1150" b="0" i="0" dirty="0">
                <a:solidFill>
                  <a:srgbClr val="263238"/>
                </a:solidFill>
                <a:latin typeface="Meiryo"/>
              </a:rPr>
              <a:t> ＝ </a:t>
            </a:r>
            <a:r>
              <a:rPr sz="1150" b="0" i="0" dirty="0" err="1">
                <a:solidFill>
                  <a:srgbClr val="263238"/>
                </a:solidFill>
                <a:latin typeface="Meiryo"/>
              </a:rPr>
              <a:t>完了枚数</a:t>
            </a:r>
            <a:r>
              <a:rPr sz="1150" b="0" i="0" dirty="0">
                <a:solidFill>
                  <a:srgbClr val="263238"/>
                </a:solidFill>
                <a:latin typeface="Meiryo"/>
              </a:rPr>
              <a:t> ÷ </a:t>
            </a:r>
            <a:r>
              <a:rPr sz="1150" b="0" i="0" dirty="0" err="1">
                <a:solidFill>
                  <a:srgbClr val="263238"/>
                </a:solidFill>
                <a:latin typeface="Meiryo"/>
              </a:rPr>
              <a:t>総枚数</a:t>
            </a:r>
            <a:r>
              <a:rPr sz="1150" b="0" i="0" dirty="0">
                <a:solidFill>
                  <a:srgbClr val="263238"/>
                </a:solidFill>
                <a:latin typeface="Meiryo"/>
              </a:rPr>
              <a:t>（%）</a:t>
            </a:r>
            <a:r>
              <a:rPr sz="1150" b="0" i="0" dirty="0" err="1">
                <a:solidFill>
                  <a:srgbClr val="263238"/>
                </a:solidFill>
                <a:latin typeface="Meiryo"/>
              </a:rPr>
              <a:t>で自動計算・表示されます</a:t>
            </a:r>
            <a:endParaRPr sz="1150" b="0" i="0" dirty="0">
              <a:solidFill>
                <a:srgbClr val="263238"/>
              </a:solidFill>
              <a:latin typeface="Meiryo"/>
            </a:endParaRPr>
          </a:p>
          <a:p>
            <a:pPr algn="l">
              <a:spcAft>
                <a:spcPts val="200"/>
              </a:spcAft>
            </a:pPr>
            <a:r>
              <a:rPr sz="1150" b="1" i="0" dirty="0" err="1">
                <a:solidFill>
                  <a:srgbClr val="F57F17"/>
                </a:solidFill>
                <a:latin typeface="Meiryo"/>
              </a:rPr>
              <a:t>黄色のバ</a:t>
            </a:r>
            <a:r>
              <a:rPr sz="1150" b="1" i="0" dirty="0">
                <a:solidFill>
                  <a:srgbClr val="F57F17"/>
                </a:solidFill>
                <a:latin typeface="Meiryo"/>
              </a:rPr>
              <a:t>ー</a:t>
            </a:r>
            <a:r>
              <a:rPr sz="1150" b="0" i="0" dirty="0">
                <a:solidFill>
                  <a:srgbClr val="263238"/>
                </a:solidFill>
                <a:latin typeface="Meiryo"/>
              </a:rPr>
              <a:t>　：</a:t>
            </a:r>
            <a:r>
              <a:rPr sz="1150" b="0" i="0" dirty="0" err="1">
                <a:solidFill>
                  <a:srgbClr val="263238"/>
                </a:solidFill>
                <a:latin typeface="Meiryo"/>
              </a:rPr>
              <a:t>通常の進捗状況</a:t>
            </a:r>
            <a:endParaRPr sz="1150" b="0" i="0" dirty="0">
              <a:solidFill>
                <a:srgbClr val="263238"/>
              </a:solidFill>
              <a:latin typeface="Meiryo"/>
            </a:endParaRPr>
          </a:p>
          <a:p>
            <a:pPr algn="l">
              <a:spcAft>
                <a:spcPts val="200"/>
              </a:spcAft>
            </a:pPr>
            <a:r>
              <a:rPr sz="1150" b="1" i="0" dirty="0" err="1">
                <a:solidFill>
                  <a:srgbClr val="E53935"/>
                </a:solidFill>
                <a:latin typeface="Meiryo"/>
              </a:rPr>
              <a:t>赤いバ</a:t>
            </a:r>
            <a:r>
              <a:rPr sz="1150" b="1" i="0" dirty="0">
                <a:solidFill>
                  <a:srgbClr val="E53935"/>
                </a:solidFill>
                <a:latin typeface="Meiryo"/>
              </a:rPr>
              <a:t>ー（</a:t>
            </a:r>
            <a:r>
              <a:rPr sz="1150" b="1" i="0" dirty="0" err="1">
                <a:solidFill>
                  <a:srgbClr val="E53935"/>
                </a:solidFill>
                <a:latin typeface="Meiryo"/>
              </a:rPr>
              <a:t>遅延アラート</a:t>
            </a:r>
            <a:r>
              <a:rPr sz="1150" b="1" i="0" dirty="0">
                <a:solidFill>
                  <a:srgbClr val="E53935"/>
                </a:solidFill>
                <a:latin typeface="Meiryo"/>
              </a:rPr>
              <a:t>）</a:t>
            </a:r>
            <a:r>
              <a:rPr sz="1150" b="0" i="0" dirty="0">
                <a:solidFill>
                  <a:srgbClr val="263238"/>
                </a:solidFill>
                <a:latin typeface="Meiryo"/>
              </a:rPr>
              <a:t>　：完了予定日を過ぎているのに進捗0%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546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0"/>
            <a:ext cx="85039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Meiryo"/>
              </a:rPr>
              <a:t>リソース表示（担当者別の業務状況確認）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546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0" y="4773168"/>
            <a:ext cx="1600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90A4AE"/>
                </a:solidFill>
                <a:latin typeface="Meiryo"/>
              </a:rPr>
              <a:t>7 / 9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749808"/>
            <a:ext cx="416052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CF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28600" y="749808"/>
            <a:ext cx="4160520" cy="292608"/>
          </a:xfrm>
          <a:prstGeom prst="rect">
            <a:avLst/>
          </a:prstGeom>
          <a:solidFill>
            <a:srgbClr val="546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38328" y="749808"/>
            <a:ext cx="3941063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Meiryo"/>
              </a:rPr>
              <a:t>リソース表示の開き方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" y="1097280"/>
            <a:ext cx="3941063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80CBC4"/>
                </a:solidFill>
                <a:latin typeface="Meiryo"/>
              </a:rPr>
              <a:t>「担当別」ボタン</a:t>
            </a:r>
            <a:r>
              <a:rPr sz="1100" b="0" i="0">
                <a:solidFill>
                  <a:srgbClr val="263238"/>
                </a:solidFill>
                <a:latin typeface="Meiryo"/>
              </a:rPr>
              <a:t> → 全画面リソースビューに切替</a:t>
            </a:r>
          </a:p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80CBC4"/>
                </a:solidFill>
                <a:latin typeface="Meiryo"/>
              </a:rPr>
              <a:t>「リソース表示」ボタン</a:t>
            </a:r>
            <a:r>
              <a:rPr sz="1100" b="0" i="0">
                <a:solidFill>
                  <a:srgbClr val="263238"/>
                </a:solidFill>
                <a:latin typeface="Meiryo"/>
              </a:rPr>
              <a:t> → ガントチャート下部に</a:t>
            </a:r>
            <a:br>
              <a:rPr lang="ja-JP" sz="1100"/>
            </a:br>
            <a:r>
              <a:rPr sz="1100" b="0" i="0">
                <a:solidFill>
                  <a:srgbClr val="263238"/>
                </a:solidFill>
                <a:latin typeface="Meiryo"/>
              </a:rPr>
              <a:t>　リソースパネルを表示（並列表示）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8600" y="2258568"/>
            <a:ext cx="4160520" cy="2487168"/>
          </a:xfrm>
          <a:prstGeom prst="rect">
            <a:avLst/>
          </a:prstGeom>
          <a:solidFill>
            <a:srgbClr val="FFFFFF"/>
          </a:solidFill>
          <a:ln w="9525">
            <a:solidFill>
              <a:srgbClr val="CF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28600" y="2258568"/>
            <a:ext cx="4160520" cy="292608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38328" y="2258568"/>
            <a:ext cx="3941063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Meiryo"/>
              </a:rPr>
              <a:t>リソース表示の見方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" y="2794522"/>
            <a:ext cx="3941063" cy="15696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 i="0" dirty="0" err="1">
                <a:solidFill>
                  <a:srgbClr val="263238"/>
                </a:solidFill>
                <a:latin typeface="Meiryo"/>
              </a:rPr>
              <a:t>各担当者の行にタスクのバーが時系列で表示されます</a:t>
            </a:r>
            <a:endParaRPr lang="en-US" sz="1100" b="0" i="0" dirty="0">
              <a:solidFill>
                <a:srgbClr val="263238"/>
              </a:solidFill>
              <a:latin typeface="Meiryo"/>
            </a:endParaRPr>
          </a:p>
          <a:p>
            <a:pPr algn="l">
              <a:spcAft>
                <a:spcPts val="200"/>
              </a:spcAft>
            </a:pPr>
            <a:endParaRPr sz="1100" b="0" i="0" dirty="0">
              <a:solidFill>
                <a:srgbClr val="263238"/>
              </a:solidFill>
              <a:latin typeface="Meiryo"/>
            </a:endParaRPr>
          </a:p>
          <a:p>
            <a:pPr algn="l">
              <a:spcAft>
                <a:spcPts val="200"/>
              </a:spcAft>
            </a:pPr>
            <a:r>
              <a:rPr sz="1100" b="0" i="0" dirty="0" err="1">
                <a:solidFill>
                  <a:srgbClr val="263238"/>
                </a:solidFill>
                <a:latin typeface="Meiryo"/>
              </a:rPr>
              <a:t>バーの色は担当者ごとに固定されています</a:t>
            </a:r>
            <a:endParaRPr lang="en-US" sz="1100" b="1" i="0" dirty="0">
              <a:solidFill>
                <a:srgbClr val="E74C3C"/>
              </a:solidFill>
              <a:latin typeface="Meiryo"/>
            </a:endParaRPr>
          </a:p>
          <a:p>
            <a:pPr algn="l">
              <a:spcAft>
                <a:spcPts val="200"/>
              </a:spcAft>
            </a:pPr>
            <a:r>
              <a:rPr sz="1100" b="1" i="0" dirty="0" err="1">
                <a:solidFill>
                  <a:srgbClr val="E74C3C"/>
                </a:solidFill>
                <a:latin typeface="Meiryo"/>
              </a:rPr>
              <a:t>藤山</a:t>
            </a:r>
            <a:r>
              <a:rPr sz="1100" b="0" i="0" dirty="0" err="1">
                <a:solidFill>
                  <a:srgbClr val="263238"/>
                </a:solidFill>
                <a:latin typeface="Meiryo"/>
              </a:rPr>
              <a:t>（赤</a:t>
            </a:r>
            <a:r>
              <a:rPr sz="1100" b="0" i="0" dirty="0">
                <a:solidFill>
                  <a:srgbClr val="263238"/>
                </a:solidFill>
                <a:latin typeface="Meiryo"/>
              </a:rPr>
              <a:t>）  </a:t>
            </a:r>
            <a:r>
              <a:rPr sz="1100" b="1" i="0" dirty="0" err="1">
                <a:solidFill>
                  <a:srgbClr val="3498DB"/>
                </a:solidFill>
                <a:latin typeface="Meiryo"/>
              </a:rPr>
              <a:t>田中</a:t>
            </a:r>
            <a:r>
              <a:rPr sz="1100" b="1" i="0" dirty="0">
                <a:solidFill>
                  <a:srgbClr val="3498DB"/>
                </a:solidFill>
                <a:latin typeface="Meiryo"/>
              </a:rPr>
              <a:t>(善)</a:t>
            </a:r>
            <a:r>
              <a:rPr sz="1100" b="0" i="0" dirty="0">
                <a:solidFill>
                  <a:srgbClr val="263238"/>
                </a:solidFill>
                <a:latin typeface="Meiryo"/>
              </a:rPr>
              <a:t>（青）  </a:t>
            </a:r>
            <a:r>
              <a:rPr sz="1100" b="1" i="0" dirty="0" err="1">
                <a:solidFill>
                  <a:srgbClr val="2ECC71"/>
                </a:solidFill>
                <a:latin typeface="Meiryo"/>
              </a:rPr>
              <a:t>安岡</a:t>
            </a:r>
            <a:r>
              <a:rPr sz="1100" b="0" i="0" dirty="0" err="1">
                <a:solidFill>
                  <a:srgbClr val="263238"/>
                </a:solidFill>
                <a:latin typeface="Meiryo"/>
              </a:rPr>
              <a:t>（緑</a:t>
            </a:r>
            <a:r>
              <a:rPr sz="1100" b="0" i="0" dirty="0">
                <a:solidFill>
                  <a:srgbClr val="263238"/>
                </a:solidFill>
                <a:latin typeface="Meiryo"/>
              </a:rPr>
              <a:t>）  </a:t>
            </a:r>
            <a:r>
              <a:rPr sz="1100" b="1" i="0" dirty="0" err="1">
                <a:solidFill>
                  <a:srgbClr val="F39C12"/>
                </a:solidFill>
                <a:latin typeface="Meiryo"/>
              </a:rPr>
              <a:t>川邊</a:t>
            </a:r>
            <a:r>
              <a:rPr sz="1100" b="0" i="0" dirty="0" err="1">
                <a:solidFill>
                  <a:srgbClr val="263238"/>
                </a:solidFill>
                <a:latin typeface="Meiryo"/>
              </a:rPr>
              <a:t>（橙</a:t>
            </a:r>
            <a:r>
              <a:rPr sz="1100" b="0" i="0" dirty="0">
                <a:solidFill>
                  <a:srgbClr val="263238"/>
                </a:solidFill>
                <a:latin typeface="Meiryo"/>
              </a:rPr>
              <a:t>）  等</a:t>
            </a:r>
            <a:endParaRPr lang="en-US" sz="1100" b="0" i="0" dirty="0">
              <a:solidFill>
                <a:srgbClr val="263238"/>
              </a:solidFill>
              <a:latin typeface="Meiryo"/>
            </a:endParaRPr>
          </a:p>
          <a:p>
            <a:pPr algn="l">
              <a:spcAft>
                <a:spcPts val="200"/>
              </a:spcAft>
            </a:pPr>
            <a:endParaRPr sz="1100" b="0" i="0" dirty="0">
              <a:solidFill>
                <a:srgbClr val="263238"/>
              </a:solidFill>
              <a:latin typeface="Meiryo"/>
            </a:endParaRPr>
          </a:p>
          <a:p>
            <a:pPr algn="l">
              <a:spcAft>
                <a:spcPts val="200"/>
              </a:spcAft>
            </a:pPr>
            <a:r>
              <a:rPr sz="1100" b="1" i="0" dirty="0" err="1">
                <a:solidFill>
                  <a:srgbClr val="263238"/>
                </a:solidFill>
                <a:latin typeface="Meiryo"/>
              </a:rPr>
              <a:t>担当者名をクリック</a:t>
            </a:r>
            <a:r>
              <a:rPr sz="1100" b="0" i="0" dirty="0">
                <a:solidFill>
                  <a:srgbClr val="263238"/>
                </a:solidFill>
                <a:latin typeface="Meiryo"/>
              </a:rPr>
              <a:t> → </a:t>
            </a:r>
            <a:r>
              <a:rPr sz="1100" b="0" i="0" dirty="0" err="1">
                <a:solidFill>
                  <a:srgbClr val="263238"/>
                </a:solidFill>
                <a:latin typeface="Meiryo"/>
              </a:rPr>
              <a:t>その担当者の詳細ビューに切替</a:t>
            </a:r>
            <a:endParaRPr sz="1100" b="0" i="0" dirty="0">
              <a:solidFill>
                <a:srgbClr val="263238"/>
              </a:solidFill>
              <a:latin typeface="Meiryo"/>
            </a:endParaRPr>
          </a:p>
          <a:p>
            <a:pPr algn="l">
              <a:spcAft>
                <a:spcPts val="200"/>
              </a:spcAft>
            </a:pPr>
            <a:br>
              <a:rPr lang="ja-JP" sz="1000" dirty="0"/>
            </a:br>
            <a:r>
              <a:rPr sz="1000" b="0" i="1" dirty="0" err="1">
                <a:solidFill>
                  <a:srgbClr val="90A4AE"/>
                </a:solidFill>
                <a:latin typeface="Meiryo"/>
              </a:rPr>
              <a:t>スクロールはガントチャートとリソースパネルが連動します</a:t>
            </a:r>
            <a:endParaRPr sz="1000" b="0" i="1" dirty="0">
              <a:solidFill>
                <a:srgbClr val="90A4AE"/>
              </a:solidFill>
              <a:latin typeface="Meiryo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4754880" y="749808"/>
            <a:ext cx="416052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CF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754880" y="749808"/>
            <a:ext cx="4160520" cy="292608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864608" y="749808"/>
            <a:ext cx="3941063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Meiryo"/>
              </a:rPr>
              <a:t>パネルのリサイズ・戻る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64608" y="1097280"/>
            <a:ext cx="3941063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263238"/>
                </a:solidFill>
                <a:latin typeface="Meiryo"/>
              </a:rPr>
              <a:t>「← 一覧に戻る」ボタン</a:t>
            </a:r>
            <a:br>
              <a:rPr lang="ja-JP" sz="1100"/>
            </a:br>
            <a:r>
              <a:rPr sz="1100" b="0" i="0">
                <a:solidFill>
                  <a:srgbClr val="263238"/>
                </a:solidFill>
                <a:latin typeface="Meiryo"/>
              </a:rPr>
              <a:t>　詳細ビューから担当者一覧に戻ります</a:t>
            </a:r>
          </a:p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263238"/>
                </a:solidFill>
                <a:latin typeface="Meiryo"/>
              </a:rPr>
              <a:t>境界線をドラッグ</a:t>
            </a:r>
            <a:br>
              <a:rPr lang="ja-JP" sz="1100"/>
            </a:br>
            <a:r>
              <a:rPr sz="1100" b="0" i="0">
                <a:solidFill>
                  <a:srgbClr val="263238"/>
                </a:solidFill>
                <a:latin typeface="Meiryo"/>
              </a:rPr>
              <a:t>　パネルの高さを自由に調整できます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754880" y="2258568"/>
            <a:ext cx="4160520" cy="1572768"/>
          </a:xfrm>
          <a:prstGeom prst="rect">
            <a:avLst/>
          </a:prstGeom>
          <a:solidFill>
            <a:srgbClr val="FFFFFF"/>
          </a:solidFill>
          <a:ln w="9525">
            <a:solidFill>
              <a:srgbClr val="CF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754880" y="2258568"/>
            <a:ext cx="4160520" cy="292608"/>
          </a:xfrm>
          <a:prstGeom prst="rect">
            <a:avLst/>
          </a:prstGeom>
          <a:solidFill>
            <a:srgbClr val="374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864608" y="2258568"/>
            <a:ext cx="3941063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Meiryo"/>
              </a:rPr>
              <a:t>リソース表示を閉じる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64608" y="2606040"/>
            <a:ext cx="3941063" cy="10977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050" b="1" i="0" dirty="0">
                <a:solidFill>
                  <a:srgbClr val="80CBC4"/>
                </a:solidFill>
                <a:latin typeface="Meiryo"/>
              </a:rPr>
              <a:t>【</a:t>
            </a:r>
            <a:r>
              <a:rPr sz="1050" b="1" i="0" dirty="0" err="1">
                <a:solidFill>
                  <a:srgbClr val="80CBC4"/>
                </a:solidFill>
                <a:latin typeface="Meiryo"/>
              </a:rPr>
              <a:t>並列パネルを閉じる場合</a:t>
            </a:r>
            <a:r>
              <a:rPr sz="1050" b="1" i="0" dirty="0">
                <a:solidFill>
                  <a:srgbClr val="80CBC4"/>
                </a:solidFill>
                <a:latin typeface="Meiryo"/>
              </a:rPr>
              <a:t>】</a:t>
            </a:r>
            <a:endParaRPr sz="1050" b="0" i="0" dirty="0">
              <a:solidFill>
                <a:srgbClr val="263238"/>
              </a:solidFill>
              <a:latin typeface="Meiryo"/>
            </a:endParaRPr>
          </a:p>
          <a:p>
            <a:pPr algn="l">
              <a:spcAft>
                <a:spcPts val="100"/>
              </a:spcAft>
            </a:pPr>
            <a:r>
              <a:rPr sz="1050" b="1" i="0" dirty="0">
                <a:solidFill>
                  <a:srgbClr val="546E7A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「</a:t>
            </a:r>
            <a:r>
              <a:rPr lang="ja-JP" altLang="en-US" sz="1050" b="1" dirty="0">
                <a:solidFill>
                  <a:srgbClr val="546E7A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リソース表示中</a:t>
            </a:r>
            <a:r>
              <a:rPr lang="en-US" altLang="ja-JP" sz="1050" b="1" dirty="0">
                <a:solidFill>
                  <a:srgbClr val="546E7A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×</a:t>
            </a:r>
            <a:r>
              <a:rPr sz="1050" b="1" i="0" dirty="0">
                <a:solidFill>
                  <a:srgbClr val="546E7A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」</a:t>
            </a:r>
            <a:r>
              <a:rPr sz="1050" b="1" i="0" dirty="0" err="1">
                <a:solidFill>
                  <a:srgbClr val="546E7A"/>
                </a:solidFill>
                <a:latin typeface="Meiryo"/>
              </a:rPr>
              <a:t>ボタン</a:t>
            </a:r>
            <a:r>
              <a:rPr sz="1050" b="0" i="0" dirty="0">
                <a:solidFill>
                  <a:srgbClr val="263238"/>
                </a:solidFill>
                <a:latin typeface="Meiryo"/>
              </a:rPr>
              <a:t>　：</a:t>
            </a:r>
            <a:r>
              <a:rPr sz="1050" b="0" i="0" dirty="0" err="1">
                <a:solidFill>
                  <a:srgbClr val="263238"/>
                </a:solidFill>
                <a:latin typeface="Meiryo"/>
              </a:rPr>
              <a:t>クリックして閉じる</a:t>
            </a:r>
            <a:endParaRPr lang="en-US" sz="1050" b="0" i="0" dirty="0">
              <a:solidFill>
                <a:srgbClr val="263238"/>
              </a:solidFill>
              <a:latin typeface="Meiryo"/>
            </a:endParaRPr>
          </a:p>
          <a:p>
            <a:pPr algn="l">
              <a:spcAft>
                <a:spcPts val="100"/>
              </a:spcAft>
            </a:pPr>
            <a:r>
              <a:rPr sz="1050" b="1" i="0" dirty="0">
                <a:solidFill>
                  <a:srgbClr val="80CBC4"/>
                </a:solidFill>
                <a:latin typeface="Meiryo"/>
              </a:rPr>
              <a:t>【</a:t>
            </a:r>
            <a:r>
              <a:rPr sz="1050" b="1" i="0" dirty="0" err="1">
                <a:solidFill>
                  <a:srgbClr val="80CBC4"/>
                </a:solidFill>
                <a:latin typeface="Meiryo"/>
              </a:rPr>
              <a:t>全画面リソースモードを終了する場合</a:t>
            </a:r>
            <a:r>
              <a:rPr sz="1050" b="1" i="0" dirty="0">
                <a:solidFill>
                  <a:srgbClr val="80CBC4"/>
                </a:solidFill>
                <a:latin typeface="Meiryo"/>
              </a:rPr>
              <a:t>】</a:t>
            </a:r>
          </a:p>
          <a:p>
            <a:pPr algn="l">
              <a:spcAft>
                <a:spcPts val="100"/>
              </a:spcAft>
            </a:pPr>
            <a:r>
              <a:rPr sz="1050" b="1" i="0" dirty="0" err="1">
                <a:solidFill>
                  <a:srgbClr val="546E7A"/>
                </a:solidFill>
                <a:latin typeface="Meiryo"/>
              </a:rPr>
              <a:t>図面</a:t>
            </a:r>
            <a:r>
              <a:rPr sz="1050" b="1" i="0" dirty="0">
                <a:solidFill>
                  <a:srgbClr val="546E7A"/>
                </a:solidFill>
                <a:latin typeface="Meiryo"/>
              </a:rPr>
              <a:t>/</a:t>
            </a:r>
            <a:r>
              <a:rPr sz="1050" b="1" i="0" dirty="0" err="1">
                <a:solidFill>
                  <a:srgbClr val="546E7A"/>
                </a:solidFill>
                <a:latin typeface="Meiryo"/>
              </a:rPr>
              <a:t>計画</a:t>
            </a:r>
            <a:r>
              <a:rPr sz="1050" b="1" i="0" dirty="0">
                <a:solidFill>
                  <a:srgbClr val="546E7A"/>
                </a:solidFill>
                <a:latin typeface="Meiryo"/>
              </a:rPr>
              <a:t>/</a:t>
            </a:r>
            <a:r>
              <a:rPr sz="1050" b="1" i="0" dirty="0" err="1">
                <a:solidFill>
                  <a:srgbClr val="546E7A"/>
                </a:solidFill>
                <a:latin typeface="Meiryo"/>
              </a:rPr>
              <a:t>長納期品</a:t>
            </a:r>
            <a:r>
              <a:rPr sz="1050" b="1" i="0" dirty="0">
                <a:solidFill>
                  <a:srgbClr val="546E7A"/>
                </a:solidFill>
                <a:latin typeface="Meiryo"/>
              </a:rPr>
              <a:t>/</a:t>
            </a:r>
            <a:r>
              <a:rPr sz="1050" b="1" i="0" dirty="0" err="1">
                <a:solidFill>
                  <a:srgbClr val="546E7A"/>
                </a:solidFill>
                <a:latin typeface="Meiryo"/>
              </a:rPr>
              <a:t>出張</a:t>
            </a:r>
            <a:r>
              <a:rPr lang="ja-JP" altLang="en-US" sz="1050" b="1" dirty="0">
                <a:solidFill>
                  <a:srgbClr val="546E7A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ボタン</a:t>
            </a:r>
            <a:r>
              <a:rPr sz="1050" b="0" i="0" dirty="0">
                <a:solidFill>
                  <a:srgbClr val="263238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：</a:t>
            </a:r>
            <a:r>
              <a:rPr sz="1050" b="0" i="0" dirty="0" err="1">
                <a:solidFill>
                  <a:srgbClr val="263238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クリックでガントビューに切替</a:t>
            </a:r>
            <a:r>
              <a:rPr sz="950" b="0" i="1" dirty="0">
                <a:solidFill>
                  <a:srgbClr val="90A4AE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　</a:t>
            </a:r>
            <a:endParaRPr lang="en-US" sz="950" b="0" i="1" dirty="0">
              <a:solidFill>
                <a:srgbClr val="90A4AE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l">
              <a:spcAft>
                <a:spcPts val="100"/>
              </a:spcAft>
            </a:pPr>
            <a:r>
              <a:rPr sz="950" b="0" i="1" dirty="0">
                <a:solidFill>
                  <a:srgbClr val="90A4AE"/>
                </a:solidFill>
                <a:latin typeface="Meiryo"/>
              </a:rPr>
              <a:t>※「</a:t>
            </a:r>
            <a:r>
              <a:rPr sz="950" b="0" i="1" dirty="0" err="1">
                <a:solidFill>
                  <a:srgbClr val="90A4AE"/>
                </a:solidFill>
                <a:latin typeface="Meiryo"/>
              </a:rPr>
              <a:t>担当別」再クリックでは閉じられません</a:t>
            </a:r>
            <a:endParaRPr sz="950" b="0" i="1" dirty="0">
              <a:solidFill>
                <a:srgbClr val="90A4AE"/>
              </a:solidFill>
              <a:latin typeface="Meiryo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4754880" y="3913632"/>
            <a:ext cx="4160520" cy="850392"/>
          </a:xfrm>
          <a:prstGeom prst="rect">
            <a:avLst/>
          </a:prstGeom>
          <a:solidFill>
            <a:srgbClr val="FFF8E1"/>
          </a:solidFill>
          <a:ln w="19050">
            <a:solidFill>
              <a:srgbClr val="FFCA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882896" y="3959352"/>
            <a:ext cx="3959352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1" i="0" dirty="0">
                <a:solidFill>
                  <a:srgbClr val="F57F17"/>
                </a:solidFill>
                <a:latin typeface="Meiryo"/>
              </a:rPr>
              <a:t>ℹ </a:t>
            </a:r>
            <a:r>
              <a:rPr sz="1050" b="1" i="0" dirty="0" err="1">
                <a:solidFill>
                  <a:srgbClr val="F57F17"/>
                </a:solidFill>
                <a:latin typeface="Meiryo"/>
              </a:rPr>
              <a:t>ヒント</a:t>
            </a:r>
            <a:endParaRPr sz="1050" b="1" i="0" dirty="0">
              <a:solidFill>
                <a:srgbClr val="F57F17"/>
              </a:solidFill>
              <a:latin typeface="Meiryo"/>
            </a:endParaRPr>
          </a:p>
          <a:p>
            <a:pPr algn="l"/>
            <a:r>
              <a:rPr sz="1050" b="0" i="0" dirty="0">
                <a:solidFill>
                  <a:srgbClr val="5D4037"/>
                </a:solidFill>
                <a:latin typeface="Meiryo"/>
              </a:rPr>
              <a:t>「</a:t>
            </a:r>
            <a:r>
              <a:rPr sz="1050" b="0" i="0" dirty="0" err="1">
                <a:solidFill>
                  <a:srgbClr val="5D4037"/>
                </a:solidFill>
                <a:latin typeface="Meiryo"/>
              </a:rPr>
              <a:t>リソース表示」ボタンで開いた場合、ガントチャートと並列表示されます。両者のスクロール位置は連動します</a:t>
            </a:r>
            <a:r>
              <a:rPr sz="1050" b="0" i="0" dirty="0">
                <a:solidFill>
                  <a:srgbClr val="5D4037"/>
                </a:solidFill>
                <a:latin typeface="Meiryo"/>
              </a:rPr>
              <a:t>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546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0"/>
            <a:ext cx="85039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Meiryo"/>
              </a:rPr>
              <a:t>アーカイブ機能（完了タスクの管理）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546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0" y="4773168"/>
            <a:ext cx="1600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90A4AE"/>
                </a:solidFill>
                <a:latin typeface="Meiryo"/>
              </a:rPr>
              <a:t>8 / 9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749808"/>
            <a:ext cx="416052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CF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28600" y="749808"/>
            <a:ext cx="4160520" cy="292608"/>
          </a:xfrm>
          <a:prstGeom prst="rect">
            <a:avLst/>
          </a:prstGeom>
          <a:solidFill>
            <a:srgbClr val="546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38328" y="749808"/>
            <a:ext cx="3941063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Meiryo"/>
              </a:rPr>
              <a:t>アーカイブとは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" y="1097280"/>
            <a:ext cx="3941063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263238"/>
                </a:solidFill>
                <a:latin typeface="Meiryo"/>
              </a:rPr>
              <a:t>完了した工事のタスクをアーカイブ（保管）する機能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263238"/>
                </a:solidFill>
                <a:latin typeface="Meiryo"/>
              </a:rPr>
              <a:t>アーカイブしたタスクはメイン画面から非表示になります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263238"/>
                </a:solidFill>
                <a:latin typeface="Meiryo"/>
              </a:rPr>
              <a:t>過去の工事データの参照・コピーに活用できます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8600" y="1801368"/>
            <a:ext cx="416052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CF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28600" y="1801368"/>
            <a:ext cx="4160520" cy="292608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38328" y="1801368"/>
            <a:ext cx="3941063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Meiryo"/>
              </a:rPr>
              <a:t>アーカイブ管理（保管する）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" y="2228120"/>
            <a:ext cx="3941063" cy="46935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 dirty="0">
                <a:solidFill>
                  <a:srgbClr val="263238"/>
                </a:solidFill>
                <a:latin typeface="Meiryo"/>
              </a:rPr>
              <a:t>「</a:t>
            </a:r>
            <a:r>
              <a:rPr sz="1100" b="1" i="0" dirty="0" err="1">
                <a:solidFill>
                  <a:srgbClr val="263238"/>
                </a:solidFill>
                <a:latin typeface="Meiryo"/>
              </a:rPr>
              <a:t>アーカイブ</a:t>
            </a:r>
            <a:r>
              <a:rPr sz="1100" b="1" i="0" dirty="0">
                <a:solidFill>
                  <a:srgbClr val="263238"/>
                </a:solidFill>
                <a:latin typeface="Meiryo"/>
              </a:rPr>
              <a:t> ▼」→「</a:t>
            </a:r>
            <a:r>
              <a:rPr sz="1100" b="1" i="0" dirty="0" err="1">
                <a:solidFill>
                  <a:srgbClr val="263238"/>
                </a:solidFill>
                <a:latin typeface="Meiryo"/>
              </a:rPr>
              <a:t>アーカイブ管理」を選択</a:t>
            </a:r>
            <a:endParaRPr sz="1100" b="1" i="0" dirty="0">
              <a:solidFill>
                <a:srgbClr val="263238"/>
              </a:solidFill>
              <a:latin typeface="Meiryo"/>
            </a:endParaRPr>
          </a:p>
          <a:p>
            <a:pPr algn="l">
              <a:spcAft>
                <a:spcPts val="300"/>
              </a:spcAft>
            </a:pPr>
            <a:r>
              <a:rPr sz="1100" b="0" i="0" dirty="0" err="1">
                <a:solidFill>
                  <a:srgbClr val="263238"/>
                </a:solidFill>
                <a:latin typeface="Meiryo"/>
              </a:rPr>
              <a:t>アーカイブしたい</a:t>
            </a:r>
            <a:r>
              <a:rPr lang="ja-JP" altLang="en-US" sz="1100" b="0" i="0" dirty="0">
                <a:solidFill>
                  <a:srgbClr val="263238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工事番号</a:t>
            </a:r>
            <a:r>
              <a:rPr lang="ja-JP" altLang="en-US" sz="1100" dirty="0">
                <a:solidFill>
                  <a:srgbClr val="263238"/>
                </a:solidFill>
                <a:latin typeface="Meiryo"/>
                <a:ea typeface="メイリオ" panose="020B0604030504040204" pitchFamily="50" charset="-128"/>
              </a:rPr>
              <a:t>の</a:t>
            </a:r>
            <a:r>
              <a:rPr sz="1100" b="0" i="0" dirty="0">
                <a:solidFill>
                  <a:srgbClr val="263238"/>
                </a:solidFill>
                <a:latin typeface="Meiryo"/>
              </a:rPr>
              <a:t>「</a:t>
            </a:r>
            <a:r>
              <a:rPr sz="1100" b="0" i="0" dirty="0" err="1">
                <a:solidFill>
                  <a:srgbClr val="263238"/>
                </a:solidFill>
                <a:latin typeface="Meiryo"/>
              </a:rPr>
              <a:t>アーカイブ</a:t>
            </a:r>
            <a:r>
              <a:rPr lang="ja-JP" altLang="en-US" sz="1100" b="0" i="0" dirty="0">
                <a:solidFill>
                  <a:srgbClr val="263238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へ</a:t>
            </a:r>
            <a:r>
              <a:rPr sz="1100" b="0" i="0" dirty="0">
                <a:solidFill>
                  <a:srgbClr val="263238"/>
                </a:solidFill>
                <a:latin typeface="Meiryo"/>
              </a:rPr>
              <a:t>」</a:t>
            </a:r>
            <a:r>
              <a:rPr sz="1100" b="0" i="0" dirty="0" err="1">
                <a:solidFill>
                  <a:srgbClr val="263238"/>
                </a:solidFill>
                <a:latin typeface="Meiryo"/>
              </a:rPr>
              <a:t>を押します</a:t>
            </a:r>
            <a:endParaRPr sz="1100" b="0" i="0" dirty="0">
              <a:solidFill>
                <a:srgbClr val="263238"/>
              </a:solidFill>
              <a:latin typeface="Meiryo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228600" y="3264408"/>
            <a:ext cx="4160520" cy="1463040"/>
          </a:xfrm>
          <a:prstGeom prst="rect">
            <a:avLst/>
          </a:prstGeom>
          <a:solidFill>
            <a:srgbClr val="FFF8E1"/>
          </a:solidFill>
          <a:ln w="19050">
            <a:solidFill>
              <a:srgbClr val="FFCA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228600" y="3264408"/>
            <a:ext cx="4160520" cy="256032"/>
          </a:xfrm>
          <a:prstGeom prst="rect">
            <a:avLst/>
          </a:prstGeom>
          <a:solidFill>
            <a:srgbClr val="FFC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38328" y="3264408"/>
            <a:ext cx="3941063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1" i="0">
                <a:solidFill>
                  <a:srgbClr val="263238"/>
                </a:solidFill>
                <a:latin typeface="Meiryo"/>
              </a:rPr>
              <a:t>ℹ アーカイブ操作について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" y="3566160"/>
            <a:ext cx="3959352" cy="11155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 i="0" dirty="0">
                <a:solidFill>
                  <a:srgbClr val="1B5E20"/>
                </a:solidFill>
                <a:latin typeface="Meiryo"/>
              </a:rPr>
              <a:t>「</a:t>
            </a:r>
            <a:r>
              <a:rPr sz="1050" b="1" i="0" dirty="0" err="1">
                <a:solidFill>
                  <a:srgbClr val="1B5E20"/>
                </a:solidFill>
                <a:latin typeface="Meiryo"/>
              </a:rPr>
              <a:t>戻す」ボタンで現役に戻せます</a:t>
            </a:r>
            <a:endParaRPr sz="1050" b="1" i="0" dirty="0">
              <a:solidFill>
                <a:srgbClr val="1B5E20"/>
              </a:solidFill>
              <a:latin typeface="Meiryo"/>
            </a:endParaRPr>
          </a:p>
          <a:p>
            <a:pPr algn="l">
              <a:spcAft>
                <a:spcPts val="200"/>
              </a:spcAft>
            </a:pPr>
            <a:r>
              <a:rPr sz="1050" b="0" i="0" dirty="0" err="1">
                <a:solidFill>
                  <a:srgbClr val="263238"/>
                </a:solidFill>
                <a:latin typeface="Meiryo"/>
              </a:rPr>
              <a:t>アーカイブ一覧の「戻す」ボタンを押すと</a:t>
            </a:r>
            <a:r>
              <a:rPr sz="1050" b="0" i="0" dirty="0">
                <a:solidFill>
                  <a:srgbClr val="263238"/>
                </a:solidFill>
                <a:latin typeface="Meiryo"/>
              </a:rPr>
              <a:t>、</a:t>
            </a:r>
            <a:br>
              <a:rPr lang="ja-JP" sz="1050" dirty="0"/>
            </a:br>
            <a:r>
              <a:rPr sz="1050" b="0" i="0" dirty="0" err="1">
                <a:solidFill>
                  <a:srgbClr val="263238"/>
                </a:solidFill>
                <a:latin typeface="Meiryo"/>
              </a:rPr>
              <a:t>その工事のすべてのタスクがメイン画面に復元されます</a:t>
            </a:r>
            <a:r>
              <a:rPr sz="1050" b="0" i="0" dirty="0">
                <a:solidFill>
                  <a:srgbClr val="263238"/>
                </a:solidFill>
                <a:latin typeface="Meiryo"/>
              </a:rPr>
              <a:t>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754880" y="749808"/>
            <a:ext cx="4160520" cy="3977639"/>
          </a:xfrm>
          <a:prstGeom prst="rect">
            <a:avLst/>
          </a:prstGeom>
          <a:solidFill>
            <a:srgbClr val="FFFFFF"/>
          </a:solidFill>
          <a:ln w="9525">
            <a:solidFill>
              <a:srgbClr val="CF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754880" y="749808"/>
            <a:ext cx="4160520" cy="292608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864608" y="749808"/>
            <a:ext cx="3941063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Meiryo"/>
              </a:rPr>
              <a:t>アーカイブ一覧（復元・コピー）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64608" y="1097280"/>
            <a:ext cx="3941063" cy="361187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050" b="1" i="0">
                <a:solidFill>
                  <a:srgbClr val="263238"/>
                </a:solidFill>
                <a:latin typeface="Meiryo"/>
              </a:rPr>
              <a:t>「アーカイブ ▼」→「アーカイブ一覧」を選択</a:t>
            </a:r>
          </a:p>
          <a:p>
            <a:pPr algn="l">
              <a:spcAft>
                <a:spcPts val="100"/>
              </a:spcAft>
            </a:pPr>
            <a:r>
              <a:rPr sz="1050" b="0" i="0">
                <a:solidFill>
                  <a:srgbClr val="263238"/>
                </a:solidFill>
                <a:latin typeface="Meiryo"/>
              </a:rPr>
              <a:t>アーカイブ済み工事が一覧表示されます</a:t>
            </a:r>
          </a:p>
          <a:p>
            <a:pPr algn="l">
              <a:spcAft>
                <a:spcPts val="100"/>
              </a:spcAft>
            </a:pPr>
            <a:endParaRPr sz="1050" b="0" i="0">
              <a:solidFill>
                <a:srgbClr val="263238"/>
              </a:solidFill>
              <a:latin typeface="Meiryo"/>
            </a:endParaRPr>
          </a:p>
          <a:p>
            <a:pPr algn="l">
              <a:spcAft>
                <a:spcPts val="100"/>
              </a:spcAft>
            </a:pPr>
            <a:r>
              <a:rPr sz="1050" b="1" i="0">
                <a:solidFill>
                  <a:srgbClr val="1565C0"/>
                </a:solidFill>
                <a:latin typeface="Meiryo"/>
              </a:rPr>
              <a:t>【復元する】</a:t>
            </a:r>
          </a:p>
          <a:p>
            <a:pPr algn="l">
              <a:spcAft>
                <a:spcPts val="100"/>
              </a:spcAft>
            </a:pPr>
            <a:r>
              <a:rPr sz="1050" b="0" i="0">
                <a:solidFill>
                  <a:srgbClr val="263238"/>
                </a:solidFill>
                <a:latin typeface="Meiryo"/>
              </a:rPr>
              <a:t>一覧の「戻す」ボタンをクリック</a:t>
            </a:r>
          </a:p>
          <a:p>
            <a:pPr algn="l">
              <a:spcAft>
                <a:spcPts val="100"/>
              </a:spcAft>
            </a:pPr>
            <a:r>
              <a:rPr sz="1050" b="0" i="0">
                <a:solidFill>
                  <a:srgbClr val="263238"/>
                </a:solidFill>
                <a:latin typeface="Meiryo"/>
              </a:rPr>
              <a:t>→ その工事の全タスクがメイン画面に戻ります</a:t>
            </a:r>
          </a:p>
          <a:p>
            <a:pPr algn="l">
              <a:spcAft>
                <a:spcPts val="100"/>
              </a:spcAft>
            </a:pPr>
            <a:endParaRPr sz="1050" b="0" i="0">
              <a:solidFill>
                <a:srgbClr val="263238"/>
              </a:solidFill>
              <a:latin typeface="Meiryo"/>
            </a:endParaRPr>
          </a:p>
          <a:p>
            <a:pPr algn="l">
              <a:spcAft>
                <a:spcPts val="100"/>
              </a:spcAft>
            </a:pPr>
            <a:r>
              <a:rPr sz="1050" b="1" i="0">
                <a:solidFill>
                  <a:srgbClr val="1565C0"/>
                </a:solidFill>
                <a:latin typeface="Meiryo"/>
              </a:rPr>
              <a:t>【新工事にコピーする（表示モード単位）】</a:t>
            </a:r>
          </a:p>
          <a:p>
            <a:pPr algn="l">
              <a:spcAft>
                <a:spcPts val="100"/>
              </a:spcAft>
            </a:pPr>
            <a:r>
              <a:rPr sz="1050" b="0" i="1">
                <a:solidFill>
                  <a:srgbClr val="90A4AE"/>
                </a:solidFill>
                <a:latin typeface="Meiryo"/>
              </a:rPr>
              <a:t>※ コピーはタスク単位ではなく表示モード単位です</a:t>
            </a:r>
          </a:p>
          <a:p>
            <a:pPr algn="l">
              <a:spcAft>
                <a:spcPts val="100"/>
              </a:spcAft>
            </a:pPr>
            <a:r>
              <a:rPr sz="1050" b="0" i="0">
                <a:solidFill>
                  <a:srgbClr val="263238"/>
                </a:solidFill>
                <a:latin typeface="Meiryo"/>
              </a:rPr>
              <a:t>① 一覧の「詳細」ボタンをクリック</a:t>
            </a:r>
          </a:p>
          <a:p>
            <a:pPr algn="l">
              <a:spcAft>
                <a:spcPts val="100"/>
              </a:spcAft>
            </a:pPr>
            <a:r>
              <a:rPr sz="1050" b="0" i="0">
                <a:solidFill>
                  <a:srgbClr val="263238"/>
                </a:solidFill>
                <a:latin typeface="Meiryo"/>
              </a:rPr>
              <a:t>② タブ（図面/計画/長納期品/出張）でモードを選択して内容を確認</a:t>
            </a:r>
          </a:p>
          <a:p>
            <a:pPr algn="l">
              <a:spcAft>
                <a:spcPts val="100"/>
              </a:spcAft>
            </a:pPr>
            <a:r>
              <a:rPr sz="1050" b="0" i="0">
                <a:solidFill>
                  <a:srgbClr val="263238"/>
                </a:solidFill>
                <a:latin typeface="Meiryo"/>
              </a:rPr>
              <a:t>③「このモードをコピー」ボタンをクリック</a:t>
            </a:r>
          </a:p>
          <a:p>
            <a:pPr algn="l">
              <a:spcAft>
                <a:spcPts val="100"/>
              </a:spcAft>
            </a:pPr>
            <a:r>
              <a:rPr sz="1050" b="0" i="0">
                <a:solidFill>
                  <a:srgbClr val="263238"/>
                </a:solidFill>
                <a:latin typeface="Meiryo"/>
              </a:rPr>
              <a:t>④ 新しい工事番号を入力して「コピーして追加」</a:t>
            </a:r>
          </a:p>
          <a:p>
            <a:pPr algn="l">
              <a:spcAft>
                <a:spcPts val="100"/>
              </a:spcAft>
            </a:pPr>
            <a:r>
              <a:rPr sz="1050" b="0" i="0">
                <a:solidFill>
                  <a:srgbClr val="263238"/>
                </a:solidFill>
                <a:latin typeface="Meiryo"/>
              </a:rPr>
              <a:t>   → 選択モードの全タスクが新工事番号で一括コピーされます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546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0"/>
            <a:ext cx="85039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Meiryo"/>
              </a:rPr>
              <a:t>システム情報・注意事項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546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0" y="4773168"/>
            <a:ext cx="1600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90A4AE"/>
                </a:solidFill>
                <a:latin typeface="Meiryo"/>
              </a:rPr>
              <a:t>9 / 9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749808"/>
            <a:ext cx="8686800" cy="3977639"/>
          </a:xfrm>
          <a:prstGeom prst="rect">
            <a:avLst/>
          </a:prstGeom>
          <a:solidFill>
            <a:srgbClr val="374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20040" y="914400"/>
            <a:ext cx="155448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 i="0">
                <a:solidFill>
                  <a:srgbClr val="80CBC4"/>
                </a:solidFill>
                <a:latin typeface="Meiryo"/>
              </a:rPr>
              <a:t>データの保存先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914400"/>
            <a:ext cx="67665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Meiryo"/>
              </a:rPr>
              <a:t>クラウド（Supabase）に自動保存。編集内容はリアルタイムでDBに反映されます。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444752"/>
            <a:ext cx="8503920" cy="9144"/>
          </a:xfrm>
          <a:prstGeom prst="rect">
            <a:avLst/>
          </a:prstGeom>
          <a:solidFill>
            <a:srgbClr val="546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20040" y="1517904"/>
            <a:ext cx="155448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 i="0">
                <a:solidFill>
                  <a:srgbClr val="80CBC4"/>
                </a:solidFill>
                <a:latin typeface="Meiryo"/>
              </a:rPr>
              <a:t>インターネット接続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1517904"/>
            <a:ext cx="67665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Meiryo"/>
              </a:rPr>
              <a:t>使用にはインターネット接続が必要です。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2048256"/>
            <a:ext cx="8503920" cy="9144"/>
          </a:xfrm>
          <a:prstGeom prst="rect">
            <a:avLst/>
          </a:prstGeom>
          <a:solidFill>
            <a:srgbClr val="546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20040" y="2121408"/>
            <a:ext cx="155448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 i="0">
                <a:solidFill>
                  <a:srgbClr val="80CBC4"/>
                </a:solidFill>
                <a:latin typeface="Meiryo"/>
              </a:rPr>
              <a:t>同時使用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74519" y="2121408"/>
            <a:ext cx="67665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Meiryo"/>
              </a:rPr>
              <a:t>複数人が同時に使用可能です。他の人の変更はF5（再読み込み）で画面に反映されます。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2651760"/>
            <a:ext cx="8503920" cy="9144"/>
          </a:xfrm>
          <a:prstGeom prst="rect">
            <a:avLst/>
          </a:prstGeom>
          <a:solidFill>
            <a:srgbClr val="546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20040" y="2724912"/>
            <a:ext cx="155448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 i="0">
                <a:solidFill>
                  <a:srgbClr val="80CBC4"/>
                </a:solidFill>
                <a:latin typeface="Meiryo"/>
              </a:rPr>
              <a:t>対応ブラウザ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74519" y="2724912"/>
            <a:ext cx="67665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Meiryo"/>
              </a:rPr>
              <a:t>Chrome / Microsoft Edge 推奨。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3255264"/>
            <a:ext cx="8503920" cy="9144"/>
          </a:xfrm>
          <a:prstGeom prst="rect">
            <a:avLst/>
          </a:prstGeom>
          <a:solidFill>
            <a:srgbClr val="546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20040" y="3328416"/>
            <a:ext cx="155448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 i="0">
                <a:solidFill>
                  <a:srgbClr val="80CBC4"/>
                </a:solidFill>
                <a:latin typeface="Meiryo"/>
              </a:rPr>
              <a:t>ファイルの場所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74519" y="3328416"/>
            <a:ext cx="67665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Meiryo"/>
              </a:rPr>
              <a:t>index.html をブラウザで直接開いて使用します。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3858768"/>
            <a:ext cx="8503920" cy="9144"/>
          </a:xfrm>
          <a:prstGeom prst="rect">
            <a:avLst/>
          </a:prstGeom>
          <a:solidFill>
            <a:srgbClr val="546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20040" y="3931920"/>
            <a:ext cx="155448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 i="0">
                <a:solidFill>
                  <a:srgbClr val="FF8080"/>
                </a:solidFill>
                <a:latin typeface="Meiryo"/>
              </a:rPr>
              <a:t>操作の取り消し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74519" y="3931920"/>
            <a:ext cx="67665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Meiryo"/>
              </a:rPr>
              <a:t>削除・アーカイブした操作は取り消しできません。Ctrl+Z も無効のため操作は慎重に行ってください。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751</Words>
  <Application>Microsoft Office PowerPoint</Application>
  <PresentationFormat>画面に合わせる (16:9)</PresentationFormat>
  <Paragraphs>161</Paragraphs>
  <Slides>9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9</vt:i4>
      </vt:variant>
    </vt:vector>
  </HeadingPairs>
  <TitlesOfParts>
    <vt:vector size="14" baseType="lpstr">
      <vt:lpstr>Meiryo</vt:lpstr>
      <vt:lpstr>Meiryo</vt:lpstr>
      <vt:lpstr>Arial</vt:lpstr>
      <vt:lpstr>Calibri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黒崎 恵未</cp:lastModifiedBy>
  <cp:revision>3</cp:revision>
  <dcterms:created xsi:type="dcterms:W3CDTF">2013-01-27T09:14:16Z</dcterms:created>
  <dcterms:modified xsi:type="dcterms:W3CDTF">2026-04-08T06:10:53Z</dcterms:modified>
  <cp:category/>
</cp:coreProperties>
</file>