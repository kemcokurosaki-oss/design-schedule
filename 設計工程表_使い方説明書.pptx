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6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1005840"/>
            <a:ext cx="64008" cy="237744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4572000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eiryo"/>
              </a:rPr>
              <a:t>設計工程表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572000" cy="8229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CFD8DC"/>
                </a:solidFill>
                <a:latin typeface="Meiryo"/>
              </a:rPr>
              <a:t>使い方説明書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34640"/>
            <a:ext cx="2926080" cy="36576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44368"/>
            <a:ext cx="4572000" cy="45720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  <a:latin typeface="Meiryo"/>
              </a:rPr>
              <a:t>設計部 業務ツール 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3383280" cy="91440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"/>
              </a:rPr>
              <a:t>設計部</a:t>
            </a:r>
          </a:p>
          <a:p>
            <a:pPr algn="ctr"/>
            <a:r>
              <a:rPr sz="1400" b="0" i="0">
                <a:solidFill>
                  <a:srgbClr val="CFD8DC"/>
                </a:solidFill>
                <a:latin typeface="Meiryo"/>
              </a:rPr>
              <a:t>業務ツール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736592"/>
            <a:ext cx="2011680" cy="256032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0A4AE"/>
                </a:solidFill>
                <a:latin typeface="Meiryo"/>
              </a:rPr>
              <a:t>設計部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画面の構成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2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上部ツールバー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3657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フィルターボタン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担当別 / 計画 / 図面 / 長納期品 / 出張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表示単位切替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日単位 / 週単位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工事番号フィルター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プルダウンで複数選択可能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担当者フィルター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リソース表示時に表示される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リソース表示ボタン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担当者別の業務状況を表示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＋ 新規タスク追加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新しいタスクを末尾に追加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アーカイブ 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完了工事の保管・参照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749808"/>
            <a:ext cx="41605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メイン画面（ガントチャート）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097280"/>
            <a:ext cx="3941063" cy="3657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左側：タスク一覧グリッド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工事番号・機械・タスク名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担当者・進捗 など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右側：タイムライン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バーをドラッグで日程変更可能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E53935"/>
                </a:solidFill>
                <a:latin typeface="Meiryo"/>
              </a:rPr>
              <a:t>赤い縦線（今日マーカー）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本日の位置を示します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土日・祝日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グレー背景で識別できます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▼マーク（出図希望日）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図面タスクバー上に表示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ドラッグで日程変更可能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表示モード（タスクタイプ）の切り替え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31520"/>
            <a:ext cx="8595360" cy="27432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546E7A"/>
                </a:solidFill>
                <a:latin typeface="Meiryo"/>
              </a:rPr>
              <a:t>ボタンをクリックしてタスクタイプを切り替えます。同時に1種類のみ表示されます。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8595360" cy="33832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51560"/>
            <a:ext cx="123444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051560"/>
            <a:ext cx="292608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内容・目的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051560"/>
            <a:ext cx="470916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主な列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89888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89888"/>
            <a:ext cx="1234440" cy="65836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389888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図面</a:t>
            </a:r>
            <a:br>
              <a:rPr lang="ja-JP" sz="1050"/>
            </a:br>
            <a:r>
              <a:rPr sz="1050" b="1" i="0">
                <a:solidFill>
                  <a:srgbClr val="FFFFFF"/>
                </a:solidFill>
                <a:latin typeface="Meiryo"/>
              </a:rPr>
              <a:t>（デフォルト）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426464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組立図面の設計進捗管理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426464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工事番号・機械・ユニット・組立図面名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機種・総枚数・完了枚数・進捗・完了予定日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90472" y="1389888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1389888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048256"/>
            <a:ext cx="8595360" cy="658368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048256"/>
            <a:ext cx="123444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048256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計画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2084832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工事計画・スケジュール管理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084832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工事番号・客先・工事名・タスク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担当・開始日・終了日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90472" y="2048256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16552" y="2048256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706624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2706624"/>
            <a:ext cx="1234440" cy="6583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706624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長納期品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2743200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発注が必要な長納期部品の管理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2743200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工事番号・品名・型式図番・個数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メーカー・担当・手配予定日・状態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90472" y="2706624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6552" y="2706624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364992"/>
            <a:ext cx="8595360" cy="658368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3364992"/>
            <a:ext cx="1234440" cy="65836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364992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出張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401568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出張スケジュールの管理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3401568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工事番号・機械・タスク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担当・開始日・終了日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90472" y="3364992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16552" y="3364992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023360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023360"/>
            <a:ext cx="1234440" cy="65836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023360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担当別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36192" y="4059936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担当者別のリソース状況を全画面表示</a:t>
            </a:r>
            <a:br>
              <a:rPr lang="ja-JP" sz="1050"/>
            </a:br>
            <a:r>
              <a:rPr sz="1050" b="0" i="0">
                <a:solidFill>
                  <a:srgbClr val="263238"/>
                </a:solidFill>
                <a:latin typeface="Meiryo"/>
              </a:rPr>
              <a:t>（詳細はスライド7参照）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2272" y="4059936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各担当者のタスクをタイムラインで一覧表示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90472" y="4023360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16552" y="4023360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タスクの追加・編集・削除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4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タスクの追加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①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右上「＋ 新規タスク追加」ボタンをクリック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②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グリッド右端の「＋」ボタンをクリック（どちらでも可）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③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タスク名が自動で編集状態 → 入力してEnterで確定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84708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84708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84708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タスクの編集（インライン編集）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19456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各列のセルをクリックすると直接編集できます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担当者列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：プルダウンで選択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完了予定日列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：日付ピッカーで選択（Enter / セル外クリックで確定）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94436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94436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9443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タスクの編集（詳細ダイアログ）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29184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タイムライン上のバーをダブルクリック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 → 詳細ダイアログが開きます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工事番号・機械・ユニット・担当・出図希望日などをまとめて編集できます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74980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タスクの削除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109728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タスク行をクリックして選択（青くハイライト）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「選択削除（N件）」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ボタンをクリックして削除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Ctrl + クリック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で複数行選択 → まとめて削除可能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847088"/>
            <a:ext cx="41605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1847088"/>
            <a:ext cx="4160520" cy="2926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184708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右クリックメニュー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194560"/>
            <a:ext cx="3941063" cy="1737359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タスク行を右クリック → メニューが表示されます</a:t>
            </a:r>
            <a:br>
              <a:rPr lang="ja-JP" sz="1050"/>
            </a:b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コピー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：選択行を1件コピー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複数コピー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：選択複数行をまとめてコピー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7D32"/>
                </a:solidFill>
                <a:latin typeface="Meiryo"/>
              </a:rPr>
              <a:t>貼り付け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：コピーしたタスクを貼り付け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C62828"/>
                </a:solidFill>
                <a:latin typeface="Meiryo"/>
              </a:rPr>
              <a:t>削除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　：選択行を削除</a:t>
            </a:r>
          </a:p>
          <a:p>
            <a:pPr algn="l">
              <a:spcAft>
                <a:spcPts val="1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※ コピー時は「コピーする項目選択」ダイアログが表示されます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ガントバーの操作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5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バーのドラッグ移動（位置変更）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タイムライン上のバーを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左右にドラッグ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すると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開始日・完了日をまとめて変更できます</a:t>
            </a:r>
          </a:p>
          <a:p>
            <a:pPr algn="l">
              <a:spcAft>
                <a:spcPts val="3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ドラッグ後、自動的にDB（Supabase）に保存されます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74980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バーのリサイズ（右端ドラッグ）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097280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バーの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右端をドラッグ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すると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完了予定日のみを変更できます</a:t>
            </a:r>
          </a:p>
          <a:p>
            <a:pPr algn="l">
              <a:spcAft>
                <a:spcPts val="3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開始日は変わらず、期間のみが変化します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71576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71576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7157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出図希望日（▼マーク）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063239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図面タスクのバー上に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黒い「▼」マーク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が表示されます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▼マークもドラッグして出図希望日を変更できます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▼の色：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黒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＝ 余裕あり　</a:t>
            </a:r>
            <a:r>
              <a:rPr sz="1100" b="1" i="0">
                <a:solidFill>
                  <a:srgbClr val="E53935"/>
                </a:solidFill>
                <a:latin typeface="Meiryo"/>
              </a:rPr>
              <a:t>赤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＝ 出図希望日超過（遅延）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71576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271576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27157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表示単位の切り替え（日単位 / 週単位）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3063239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「日単位」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（デフォルト）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日付を1日単位で細かく表示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「週単位」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週単位でまとめて表示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全体スケジュールの把握に便利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絞り込み（フィルタリング）機能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6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86868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868680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8467344" cy="91439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上部「工事番号: 全表示」プルダウンをクリック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3238"/>
                </a:solidFill>
                <a:latin typeface="Meiryo"/>
              </a:rPr>
              <a:t>表示したい工事番号にチェック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（複数選択可）、全表示に戻すには「全表示」にチェック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157984"/>
            <a:ext cx="86868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157984"/>
            <a:ext cx="86868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157984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担当者フィルター（リソース表示時）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505456"/>
            <a:ext cx="8467344" cy="91439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「リソース表示」ボタンクリック後に画面上部に担当者フィルターが表示されます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3238"/>
                </a:solidFill>
                <a:latin typeface="Meiryo"/>
              </a:rPr>
              <a:t>特定の担当者のタスクだけを絞り込めます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（複数選択可）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566160"/>
            <a:ext cx="86868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566160"/>
            <a:ext cx="8686800" cy="2926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3566160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進捗の視覚的確認（進捗列）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913631"/>
            <a:ext cx="8467344" cy="118871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進捗率 ＝ 完了枚数 ÷ 総枚数（%）で自動計算・表示されます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F57F17"/>
                </a:solidFill>
                <a:latin typeface="Meiryo"/>
              </a:rPr>
              <a:t>黄色のバー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　：通常の進捗状況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E53935"/>
                </a:solidFill>
                <a:latin typeface="Meiryo"/>
              </a:rPr>
              <a:t>赤いバー（遅延アラート）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　：完了予定日を過ぎているのに進捗0%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リソース表示（担当者別の業務状況確認）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7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リソース表示の開き方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「担当別」ボタン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全画面リソースビューに切替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「リソース表示」ボタン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ガントチャート下部に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リソースパネルを表示（並列表示）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258568"/>
            <a:ext cx="416052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25856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2585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リソース表示の見方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606040"/>
            <a:ext cx="3941063" cy="2121408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各担当者の行にタスクのバーが時系列で表示されます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バーの色は担当者ごとに固定されています：</a:t>
            </a:r>
            <a:r>
              <a:rPr sz="1100" b="1" i="0">
                <a:solidFill>
                  <a:srgbClr val="E74C3C"/>
                </a:solidFill>
                <a:latin typeface="Meiryo"/>
              </a:rPr>
              <a:t>  藤山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（赤）  </a:t>
            </a:r>
            <a:r>
              <a:rPr sz="1100" b="1" i="0">
                <a:solidFill>
                  <a:srgbClr val="3498DB"/>
                </a:solidFill>
                <a:latin typeface="Meiryo"/>
              </a:rPr>
              <a:t>田中(善)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（青）  </a:t>
            </a:r>
            <a:r>
              <a:rPr sz="1100" b="1" i="0">
                <a:solidFill>
                  <a:srgbClr val="2ECC71"/>
                </a:solidFill>
                <a:latin typeface="Meiryo"/>
              </a:rPr>
              <a:t>安岡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（緑）  </a:t>
            </a:r>
            <a:r>
              <a:rPr sz="1100" b="1" i="0">
                <a:solidFill>
                  <a:srgbClr val="F39C12"/>
                </a:solidFill>
                <a:latin typeface="Meiryo"/>
              </a:rPr>
              <a:t>川邊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（橙）  等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担当者名をクリック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その担当者の詳細ビューに切替</a:t>
            </a:r>
          </a:p>
          <a:p>
            <a:pPr algn="l">
              <a:spcAft>
                <a:spcPts val="2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スクロールはガントチャートとリソースパネルが連動します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749808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パネルのリサイズ・戻る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1097280"/>
            <a:ext cx="3941063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「← 一覧に戻る」ボタン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詳細ビューから担当者一覧に戻ります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境界線をドラッグ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パネルの高さを自由に調整できます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258568"/>
            <a:ext cx="41605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225856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22585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リソース表示を閉じる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606040"/>
            <a:ext cx="3941063" cy="54864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「×」ボタン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　：リソースパネルを閉じる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「担当別」ボタン再クリック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　：全画面モードを終了してガントに戻る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273552"/>
            <a:ext cx="4160520" cy="1472184"/>
          </a:xfrm>
          <a:prstGeom prst="rect">
            <a:avLst/>
          </a:prstGeom>
          <a:solidFill>
            <a:srgbClr val="FFF8E1"/>
          </a:solidFill>
          <a:ln w="19050">
            <a:solidFill>
              <a:srgbClr val="FFC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82896" y="3337560"/>
            <a:ext cx="3959352" cy="13441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57F17"/>
                </a:solidFill>
                <a:latin typeface="Meiryo"/>
              </a:rPr>
              <a:t>ℹ ヒント</a:t>
            </a:r>
          </a:p>
          <a:p>
            <a:pPr algn="l"/>
            <a:r>
              <a:rPr sz="1050" b="0" i="0">
                <a:solidFill>
                  <a:srgbClr val="5D4037"/>
                </a:solidFill>
                <a:latin typeface="Meiryo"/>
              </a:rPr>
              <a:t>「リソース表示」ボタンで開いた場合、</a:t>
            </a:r>
            <a:br>
              <a:rPr lang="ja-JP" sz="1050"/>
            </a:br>
            <a:r>
              <a:rPr sz="1050" b="0" i="0">
                <a:solidFill>
                  <a:srgbClr val="5D4037"/>
                </a:solidFill>
                <a:latin typeface="Meiryo"/>
              </a:rPr>
              <a:t>ガントチャートと並列表示されます。</a:t>
            </a:r>
            <a:br>
              <a:rPr lang="ja-JP" sz="1050"/>
            </a:br>
            <a:r>
              <a:rPr sz="1050" b="0" i="0">
                <a:solidFill>
                  <a:srgbClr val="5D4037"/>
                </a:solidFill>
                <a:latin typeface="Meiryo"/>
              </a:rPr>
              <a:t>両者のスクロール位置は同期しています。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アーカイブ機能（完了タスクの管理）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アーカイブとは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8686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完了した工事のタスクをアーカイブ（保管）する機能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アーカイブしたタスクはメイン画面から非表示になります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過去の工事データの参照・コピーに活用できます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075688"/>
            <a:ext cx="41605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07568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07568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アーカイブ管理（保管する）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423160"/>
            <a:ext cx="3941063" cy="54864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「アーカイブ ▼」→「アーカイブ管理」を選択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アーカイブしたいタスクを選択して実行します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81528"/>
            <a:ext cx="4160520" cy="166420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08152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308152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アーカイブ一覧（参照・コピー）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429000"/>
            <a:ext cx="3941063" cy="1298448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「アーカイブ ▼」→「アーカイブ一覧」を選択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過去のアーカイブ済みタスクを一覧表示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タスクをクリック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詳細情報を確認できます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アーカイブ済みタスクを新しいタスクとして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コピーすることも可能です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749808"/>
            <a:ext cx="4160520" cy="399592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システム情報・注意事項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1097280"/>
            <a:ext cx="3941063" cy="3630168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データの保存先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クラウド（Supabase）に自動保存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編集内容はリアルタイムでDBに反映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インターネット接続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使用にはインターネット接続が必要です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同時使用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複数人が同時に使用可能（画面更新時に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最新データを取得）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対応ブラウザ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Chrome / Microsoft Edge 推奨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ファイルの場所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index.html をブラウザで開いて使用します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表示期間の範囲</a:t>
            </a:r>
            <a:br>
              <a:rPr lang="ja-JP" sz="1100"/>
            </a:br>
            <a:r>
              <a:rPr sz="1100" b="0" i="0">
                <a:solidFill>
                  <a:srgbClr val="FFFFFF"/>
                </a:solidFill>
                <a:latin typeface="Meiryo"/>
              </a:rPr>
              <a:t>2025年1月 ～ 2026年12月まで表示可能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